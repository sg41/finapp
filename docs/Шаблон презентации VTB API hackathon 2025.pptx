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23.png" ContentType="image/png"/>
  <Override PartName="/ppt/media/image22.png" ContentType="image/png"/>
  <Override PartName="/ppt/media/image27.png" ContentType="image/png"/>
  <Override PartName="/ppt/media/image4.png" ContentType="image/png"/>
  <Override PartName="/ppt/media/image28.png" ContentType="image/png"/>
  <Override PartName="/ppt/media/image5.png" ContentType="image/png"/>
  <Override PartName="/ppt/media/image30.png" ContentType="image/png"/>
  <Override PartName="/ppt/media/image10.png" ContentType="image/png"/>
  <Override PartName="/ppt/media/image29.png" ContentType="image/png"/>
  <Override PartName="/ppt/media/image6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3.png" ContentType="image/png"/>
  <Override PartName="/ppt/media/image26.png" ContentType="image/png"/>
  <Override PartName="/ppt/media/image2.png" ContentType="image/png"/>
  <Override PartName="/ppt/media/image25.png" ContentType="image/png"/>
  <Override PartName="/ppt/media/image31.png" ContentType="image/png"/>
  <Override PartName="/ppt/media/image1.png" ContentType="image/png"/>
  <Override PartName="/ppt/media/image24.png" ContentType="image/png"/>
  <Override PartName="/ppt/media/image11.jpeg" ContentType="image/jpe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20.png" ContentType="image/png"/>
  <Override PartName="/ppt/media/image19.png" ContentType="image/png"/>
  <Override PartName="/ppt/media/image21.png" ContentType="image/pn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B9C653-77CC-4020-BFAB-668BF2443E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47EA7F-9AC8-4BA9-B66D-8CC38F71AD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B9F75C-FF6A-472F-B54D-B639CEA91D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2C1936-1426-4D9B-8BCD-45348A1393A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C72A3E-6934-43D1-862D-F9FBDA893F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D2370B-97C2-4E87-9FF9-F22BF97EA61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2D0778-AB35-4D58-ACA0-D12B7E6B7E1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541E3C-A4F3-43F4-8EEB-47A5B14AA8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3FB496-F62A-4864-A65D-94A755B54B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046A65-79A3-4C1D-9B66-19EB4BADA5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63110F-F132-4EC1-B30B-91AE309866D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127C66-7FCF-4547-9509-89C25848360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2DC356-05E4-4DE7-A5D1-4228AF6F868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0CDFE5-8B94-4304-B16F-AB01E9D8E8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B8EA12-06EE-401F-954C-A8D0B03E48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97D0F5-86CB-4CF7-B4E4-446D92C0D1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5D2493-5AFE-496B-A7F9-046F7C6C555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98B33B-F7D7-442C-A189-76911D9BF70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47761D-99EC-4BC4-A02E-8024DC1DD1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6B7B06-3EBE-4B0F-BD3E-4708482DF2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8C9842-DAB3-4FEF-9E25-74703521FCC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0CFE67-CBBE-46BC-94B9-A6BE5EC8778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89682A-4A33-417C-943C-616205D650D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66D2FA-4B73-4C34-A92F-683017251FD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rgbClr val="000000"/>
                </a:solidFill>
                <a:latin typeface="Aptos Display"/>
              </a:rPr>
              <a:t>Обр</a:t>
            </a:r>
            <a:r>
              <a:rPr b="0" lang="ru-RU" sz="6000" spc="-1" strike="noStrike">
                <a:solidFill>
                  <a:srgbClr val="000000"/>
                </a:solidFill>
                <a:latin typeface="Aptos Display"/>
              </a:rPr>
              <a:t>азе</a:t>
            </a:r>
            <a:r>
              <a:rPr b="0" lang="ru-RU" sz="6000" spc="-1" strike="noStrike">
                <a:solidFill>
                  <a:srgbClr val="000000"/>
                </a:solidFill>
                <a:latin typeface="Aptos Display"/>
              </a:rPr>
              <a:t>ц </a:t>
            </a:r>
            <a:r>
              <a:rPr b="0" lang="ru-RU" sz="6000" spc="-1" strike="noStrike">
                <a:solidFill>
                  <a:srgbClr val="000000"/>
                </a:solidFill>
                <a:latin typeface="Aptos Display"/>
              </a:rPr>
              <a:t>заг</a:t>
            </a:r>
            <a:r>
              <a:rPr b="0" lang="ru-RU" sz="6000" spc="-1" strike="noStrike">
                <a:solidFill>
                  <a:srgbClr val="000000"/>
                </a:solidFill>
                <a:latin typeface="Aptos Display"/>
              </a:rPr>
              <a:t>оло</a:t>
            </a:r>
            <a:r>
              <a:rPr b="0" lang="ru-RU" sz="6000" spc="-1" strike="noStrike">
                <a:solidFill>
                  <a:srgbClr val="000000"/>
                </a:solidFill>
                <a:latin typeface="Aptos Display"/>
              </a:rPr>
              <a:t>вка</a:t>
            </a:r>
            <a:endParaRPr b="0" lang="ru-RU" sz="60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ru-RU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rgbClr val="787878"/>
                </a:solidFill>
                <a:latin typeface="Aptos"/>
              </a:rPr>
              <a:t>&lt;date/time&gt;</a:t>
            </a:r>
            <a:endParaRPr b="0" lang="ru-RU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ru-RU" sz="1400" spc="-1" strike="noStrike">
                <a:latin typeface="Times New Roman"/>
              </a:rPr>
              <a:t>&lt;footer&gt;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98AE0EE-56F8-4937-AF5C-0D3533E6EC40}" type="slidenum">
              <a:rPr b="0" lang="ru-RU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rgbClr val="000000"/>
                </a:solidFill>
                <a:latin typeface="Aptos"/>
              </a:rPr>
              <a:t>Click to edit the outline text format</a:t>
            </a: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ptos"/>
              </a:rPr>
              <a:t>Second Outline Level</a:t>
            </a:r>
            <a:endParaRPr b="0" lang="ru-RU" sz="20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ptos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ptos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ptos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ptos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ptos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ptos Display"/>
              </a:rPr>
              <a:t>Образец </a:t>
            </a:r>
            <a:r>
              <a:rPr b="0" lang="ru-RU" sz="4400" spc="-1" strike="noStrike">
                <a:solidFill>
                  <a:srgbClr val="000000"/>
                </a:solidFill>
                <a:latin typeface="Aptos Display"/>
              </a:rPr>
              <a:t>заголовка</a:t>
            </a:r>
            <a:endParaRPr b="0" lang="ru-RU" sz="4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Aptos"/>
              </a:rPr>
              <a:t>Образец текста</a:t>
            </a: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rgbClr val="000000"/>
                </a:solidFill>
                <a:latin typeface="Aptos"/>
              </a:rPr>
              <a:t>Второй уровень</a:t>
            </a:r>
            <a:endParaRPr b="0" lang="ru-RU" sz="2400" spc="-1" strike="noStrike">
              <a:solidFill>
                <a:srgbClr val="000000"/>
              </a:solidFill>
              <a:latin typeface="Aptos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000000"/>
                </a:solidFill>
                <a:latin typeface="Aptos"/>
              </a:rPr>
              <a:t>Третий уровень</a:t>
            </a:r>
            <a:endParaRPr b="0" lang="ru-RU" sz="2000" spc="-1" strike="noStrike">
              <a:solidFill>
                <a:srgbClr val="000000"/>
              </a:solidFill>
              <a:latin typeface="Aptos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rgbClr val="000000"/>
                </a:solidFill>
                <a:latin typeface="Aptos"/>
              </a:rPr>
              <a:t>Четвертый уровень</a:t>
            </a:r>
            <a:endParaRPr b="0" lang="ru-RU" sz="1800" spc="-1" strike="noStrike">
              <a:solidFill>
                <a:srgbClr val="000000"/>
              </a:solidFill>
              <a:latin typeface="Aptos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rgbClr val="000000"/>
                </a:solidFill>
                <a:latin typeface="Aptos"/>
              </a:rPr>
              <a:t>Пятый уровень</a:t>
            </a:r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ru-RU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rgbClr val="787878"/>
                </a:solidFill>
                <a:latin typeface="Aptos"/>
              </a:rPr>
              <a:t>&lt;date/time&gt;</a:t>
            </a:r>
            <a:endParaRPr b="0" lang="ru-RU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ru-RU" sz="1400" spc="-1" strike="noStrike">
                <a:latin typeface="Times New Roman"/>
              </a:rPr>
              <a:t>&lt;footer&gt;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16FF0FD-2328-4386-932E-1C5BF755EE62}" type="slidenum">
              <a:rPr b="0" lang="ru-RU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ru-RU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jpe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Рисунок 15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/>
          <p:cNvPicPr/>
          <p:nvPr/>
        </p:nvPicPr>
        <p:blipFill>
          <a:blip r:embed="rId1"/>
          <a:stretch/>
        </p:blipFill>
        <p:spPr>
          <a:xfrm>
            <a:off x="333000" y="1545120"/>
            <a:ext cx="7772040" cy="919800"/>
          </a:xfrm>
          <a:prstGeom prst="rect">
            <a:avLst/>
          </a:prstGeom>
          <a:ln w="0">
            <a:noFill/>
          </a:ln>
        </p:spPr>
      </p:pic>
      <p:pic>
        <p:nvPicPr>
          <p:cNvPr id="83" name="Рисунок 16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/>
          <p:cNvPicPr/>
          <p:nvPr/>
        </p:nvPicPr>
        <p:blipFill>
          <a:blip r:embed="rId2"/>
          <a:stretch/>
        </p:blipFill>
        <p:spPr>
          <a:xfrm>
            <a:off x="561600" y="382320"/>
            <a:ext cx="6543720" cy="919800"/>
          </a:xfrm>
          <a:prstGeom prst="rect">
            <a:avLst/>
          </a:prstGeom>
          <a:ln w="0">
            <a:noFill/>
          </a:ln>
        </p:spPr>
      </p:pic>
      <p:sp>
        <p:nvSpPr>
          <p:cNvPr id="84" name="TextBox 17"/>
          <p:cNvSpPr/>
          <p:nvPr/>
        </p:nvSpPr>
        <p:spPr>
          <a:xfrm>
            <a:off x="923400" y="382320"/>
            <a:ext cx="40572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800" spc="-1" strike="noStrike">
                <a:solidFill>
                  <a:srgbClr val="ffffff"/>
                </a:solidFill>
                <a:latin typeface="Arial"/>
              </a:rPr>
              <a:t>Мультибанк: единый интерфейс финансового сервиса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85" name="TextBox 18"/>
          <p:cNvSpPr/>
          <p:nvPr/>
        </p:nvSpPr>
        <p:spPr>
          <a:xfrm>
            <a:off x="900000" y="1542240"/>
            <a:ext cx="65437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5400" spc="-1" strike="noStrike">
                <a:solidFill>
                  <a:srgbClr val="ffffff"/>
                </a:solidFill>
                <a:latin typeface="Arial"/>
              </a:rPr>
              <a:t>КОМАНДА Динамо</a:t>
            </a:r>
            <a:endParaRPr b="0" lang="ru-RU" sz="5400" spc="-1" strike="noStrike">
              <a:latin typeface="Arial"/>
            </a:endParaRPr>
          </a:p>
        </p:txBody>
      </p:sp>
      <p:sp>
        <p:nvSpPr>
          <p:cNvPr id="86" name="Овал 21"/>
          <p:cNvSpPr/>
          <p:nvPr/>
        </p:nvSpPr>
        <p:spPr>
          <a:xfrm>
            <a:off x="389880" y="3412080"/>
            <a:ext cx="1908000" cy="1836000"/>
          </a:xfrm>
          <a:prstGeom prst="ellipse">
            <a:avLst/>
          </a:prstGeom>
          <a:solidFill>
            <a:srgbClr val="eeeeee"/>
          </a:solidFill>
          <a:ln w="57150">
            <a:solidFill>
              <a:srgbClr val="05a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7" name="Рисунок 10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/>
          <p:cNvPicPr/>
          <p:nvPr/>
        </p:nvPicPr>
        <p:blipFill>
          <a:blip r:embed="rId3"/>
          <a:stretch/>
        </p:blipFill>
        <p:spPr>
          <a:xfrm>
            <a:off x="333000" y="5136480"/>
            <a:ext cx="2575800" cy="439200"/>
          </a:xfrm>
          <a:prstGeom prst="rect">
            <a:avLst/>
          </a:prstGeom>
          <a:ln w="0">
            <a:noFill/>
          </a:ln>
        </p:spPr>
      </p:pic>
      <p:sp>
        <p:nvSpPr>
          <p:cNvPr id="88" name="TextBox 30"/>
          <p:cNvSpPr/>
          <p:nvPr/>
        </p:nvSpPr>
        <p:spPr>
          <a:xfrm>
            <a:off x="447120" y="5162760"/>
            <a:ext cx="23475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800" spc="-1" strike="noStrike">
                <a:solidFill>
                  <a:srgbClr val="ffffff"/>
                </a:solidFill>
                <a:latin typeface="Arial"/>
              </a:rPr>
              <a:t>Сергей Горбатенко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89" name="TextBox 31"/>
          <p:cNvSpPr/>
          <p:nvPr/>
        </p:nvSpPr>
        <p:spPr>
          <a:xfrm>
            <a:off x="866520" y="5602320"/>
            <a:ext cx="1908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Командир, архитектор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90" name="Овал 32"/>
          <p:cNvSpPr/>
          <p:nvPr/>
        </p:nvSpPr>
        <p:spPr>
          <a:xfrm>
            <a:off x="2851920" y="3437640"/>
            <a:ext cx="1908000" cy="1909080"/>
          </a:xfrm>
          <a:prstGeom prst="ellipse">
            <a:avLst/>
          </a:prstGeom>
          <a:solidFill>
            <a:srgbClr val="ffffff"/>
          </a:solidFill>
          <a:ln w="57150">
            <a:solidFill>
              <a:srgbClr val="05a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91" name="Рисунок 33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/>
          <p:cNvPicPr/>
          <p:nvPr/>
        </p:nvPicPr>
        <p:blipFill>
          <a:blip r:embed="rId4"/>
          <a:stretch/>
        </p:blipFill>
        <p:spPr>
          <a:xfrm>
            <a:off x="2794680" y="5162040"/>
            <a:ext cx="2022120" cy="439200"/>
          </a:xfrm>
          <a:prstGeom prst="rect">
            <a:avLst/>
          </a:prstGeom>
          <a:ln w="0">
            <a:noFill/>
          </a:ln>
        </p:spPr>
      </p:pic>
      <p:sp>
        <p:nvSpPr>
          <p:cNvPr id="92" name="TextBox 34"/>
          <p:cNvSpPr/>
          <p:nvPr/>
        </p:nvSpPr>
        <p:spPr>
          <a:xfrm>
            <a:off x="2908800" y="5188320"/>
            <a:ext cx="1908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800" spc="-1" strike="noStrike">
                <a:solidFill>
                  <a:srgbClr val="ffffff"/>
                </a:solidFill>
                <a:latin typeface="Arial"/>
              </a:rPr>
              <a:t>Gemini 2.5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93" name="TextBox 35"/>
          <p:cNvSpPr/>
          <p:nvPr/>
        </p:nvSpPr>
        <p:spPr>
          <a:xfrm>
            <a:off x="3328200" y="5627880"/>
            <a:ext cx="1908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Бэкенд разработчик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94" name="Овал 36"/>
          <p:cNvSpPr/>
          <p:nvPr/>
        </p:nvSpPr>
        <p:spPr>
          <a:xfrm>
            <a:off x="5236560" y="3446640"/>
            <a:ext cx="1908000" cy="1909080"/>
          </a:xfrm>
          <a:prstGeom prst="ellipse">
            <a:avLst/>
          </a:prstGeom>
          <a:solidFill>
            <a:srgbClr val="ffffff"/>
          </a:solidFill>
          <a:ln w="57150">
            <a:solidFill>
              <a:srgbClr val="05a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95" name="Рисунок 37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/>
          <p:cNvPicPr/>
          <p:nvPr/>
        </p:nvPicPr>
        <p:blipFill>
          <a:blip r:embed="rId5"/>
          <a:stretch/>
        </p:blipFill>
        <p:spPr>
          <a:xfrm>
            <a:off x="5179680" y="5171040"/>
            <a:ext cx="2022120" cy="439200"/>
          </a:xfrm>
          <a:prstGeom prst="rect">
            <a:avLst/>
          </a:prstGeom>
          <a:ln w="0">
            <a:noFill/>
          </a:ln>
        </p:spPr>
      </p:pic>
      <p:sp>
        <p:nvSpPr>
          <p:cNvPr id="96" name="TextBox 38"/>
          <p:cNvSpPr/>
          <p:nvPr/>
        </p:nvSpPr>
        <p:spPr>
          <a:xfrm>
            <a:off x="5293800" y="5197320"/>
            <a:ext cx="1908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800" spc="-1" strike="noStrike">
                <a:solidFill>
                  <a:srgbClr val="ffffff"/>
                </a:solidFill>
                <a:latin typeface="Arial"/>
              </a:rPr>
              <a:t>Gemini 2.5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97" name="TextBox 39"/>
          <p:cNvSpPr/>
          <p:nvPr/>
        </p:nvSpPr>
        <p:spPr>
          <a:xfrm>
            <a:off x="5712840" y="5636880"/>
            <a:ext cx="1908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Фронтенд разработчик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98" name="Овал 40"/>
          <p:cNvSpPr/>
          <p:nvPr/>
        </p:nvSpPr>
        <p:spPr>
          <a:xfrm>
            <a:off x="7621200" y="3446640"/>
            <a:ext cx="1908000" cy="1909080"/>
          </a:xfrm>
          <a:prstGeom prst="ellipse">
            <a:avLst/>
          </a:prstGeom>
          <a:solidFill>
            <a:srgbClr val="d9d9d9"/>
          </a:solidFill>
          <a:ln w="57150">
            <a:solidFill>
              <a:srgbClr val="05a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99" name="Рисунок 41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/>
          <p:cNvPicPr/>
          <p:nvPr/>
        </p:nvPicPr>
        <p:blipFill>
          <a:blip r:embed="rId6"/>
          <a:stretch/>
        </p:blipFill>
        <p:spPr>
          <a:xfrm>
            <a:off x="7564320" y="5171040"/>
            <a:ext cx="2022120" cy="439200"/>
          </a:xfrm>
          <a:prstGeom prst="rect">
            <a:avLst/>
          </a:prstGeom>
          <a:ln w="0">
            <a:noFill/>
          </a:ln>
        </p:spPr>
      </p:pic>
      <p:sp>
        <p:nvSpPr>
          <p:cNvPr id="100" name="TextBox 42"/>
          <p:cNvSpPr/>
          <p:nvPr/>
        </p:nvSpPr>
        <p:spPr>
          <a:xfrm>
            <a:off x="7678440" y="5197320"/>
            <a:ext cx="1908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800" spc="-1" strike="noStrike">
                <a:solidFill>
                  <a:srgbClr val="ffffff"/>
                </a:solidFill>
                <a:latin typeface="Arial"/>
              </a:rPr>
              <a:t>Qwen-3Max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01" name="TextBox 43"/>
          <p:cNvSpPr/>
          <p:nvPr/>
        </p:nvSpPr>
        <p:spPr>
          <a:xfrm>
            <a:off x="8097840" y="5636880"/>
            <a:ext cx="19080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Помошник бэкенд разработчика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02" name="Овал 44"/>
          <p:cNvSpPr/>
          <p:nvPr/>
        </p:nvSpPr>
        <p:spPr>
          <a:xfrm>
            <a:off x="9948960" y="3437640"/>
            <a:ext cx="1908000" cy="1909080"/>
          </a:xfrm>
          <a:prstGeom prst="ellipse">
            <a:avLst/>
          </a:prstGeom>
          <a:solidFill>
            <a:srgbClr val="d9d9d9"/>
          </a:solidFill>
          <a:ln w="57150">
            <a:solidFill>
              <a:srgbClr val="05a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03" name="Рисунок 45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/>
          <p:cNvPicPr/>
          <p:nvPr/>
        </p:nvPicPr>
        <p:blipFill>
          <a:blip r:embed="rId7"/>
          <a:stretch/>
        </p:blipFill>
        <p:spPr>
          <a:xfrm>
            <a:off x="9891720" y="5162040"/>
            <a:ext cx="2022120" cy="439200"/>
          </a:xfrm>
          <a:prstGeom prst="rect">
            <a:avLst/>
          </a:prstGeom>
          <a:ln w="0">
            <a:noFill/>
          </a:ln>
        </p:spPr>
      </p:pic>
      <p:sp>
        <p:nvSpPr>
          <p:cNvPr id="104" name="TextBox 46"/>
          <p:cNvSpPr/>
          <p:nvPr/>
        </p:nvSpPr>
        <p:spPr>
          <a:xfrm>
            <a:off x="10006200" y="5188320"/>
            <a:ext cx="1908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800" spc="-1" strike="noStrike">
                <a:solidFill>
                  <a:srgbClr val="ffffff"/>
                </a:solidFill>
                <a:latin typeface="Arial"/>
              </a:rPr>
              <a:t>Qwen-3Max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05" name="TextBox 47"/>
          <p:cNvSpPr/>
          <p:nvPr/>
        </p:nvSpPr>
        <p:spPr>
          <a:xfrm>
            <a:off x="10425240" y="5627880"/>
            <a:ext cx="1908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Дизайнер</a:t>
            </a:r>
            <a:endParaRPr b="0" lang="ru-RU" sz="1800" spc="-1" strike="noStrike">
              <a:latin typeface="Arial"/>
            </a:endParaRPr>
          </a:p>
        </p:txBody>
      </p:sp>
      <p:pic>
        <p:nvPicPr>
          <p:cNvPr id="106" name="Рисунок 3" descr="Изображение выглядит как текст, Шрифт, снимок экрана, Графика&#10;&#10;Содержимое, созданное искусственным интеллектом, может быть неверным."/>
          <p:cNvPicPr/>
          <p:nvPr/>
        </p:nvPicPr>
        <p:blipFill>
          <a:blip r:embed="rId8"/>
          <a:srcRect l="0" t="0" r="0" b="42847"/>
          <a:stretch/>
        </p:blipFill>
        <p:spPr>
          <a:xfrm>
            <a:off x="9243000" y="476280"/>
            <a:ext cx="2267640" cy="66060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9"/>
          <a:stretch/>
        </p:blipFill>
        <p:spPr>
          <a:xfrm>
            <a:off x="696960" y="3759120"/>
            <a:ext cx="1283040" cy="1280880"/>
          </a:xfrm>
          <a:prstGeom prst="rect">
            <a:avLst/>
          </a:prstGeom>
          <a:ln w="0">
            <a:noFill/>
          </a:ln>
        </p:spPr>
      </p:pic>
      <p:pic>
        <p:nvPicPr>
          <p:cNvPr id="108" name="" descr=""/>
          <p:cNvPicPr/>
          <p:nvPr/>
        </p:nvPicPr>
        <p:blipFill>
          <a:blip r:embed="rId10"/>
          <a:stretch/>
        </p:blipFill>
        <p:spPr>
          <a:xfrm>
            <a:off x="8100000" y="4172040"/>
            <a:ext cx="983880" cy="327960"/>
          </a:xfrm>
          <a:prstGeom prst="rect">
            <a:avLst/>
          </a:prstGeom>
          <a:ln w="0">
            <a:noFill/>
          </a:ln>
        </p:spPr>
      </p:pic>
      <p:pic>
        <p:nvPicPr>
          <p:cNvPr id="109" name="" descr=""/>
          <p:cNvPicPr/>
          <p:nvPr/>
        </p:nvPicPr>
        <p:blipFill>
          <a:blip r:embed="rId11"/>
          <a:stretch/>
        </p:blipFill>
        <p:spPr>
          <a:xfrm>
            <a:off x="10356120" y="4172040"/>
            <a:ext cx="983880" cy="327960"/>
          </a:xfrm>
          <a:prstGeom prst="rect">
            <a:avLst/>
          </a:prstGeom>
          <a:ln w="0">
            <a:noFill/>
          </a:ln>
        </p:spPr>
      </p:pic>
      <p:pic>
        <p:nvPicPr>
          <p:cNvPr id="110" name="" descr=""/>
          <p:cNvPicPr/>
          <p:nvPr/>
        </p:nvPicPr>
        <p:blipFill>
          <a:blip r:embed="rId12"/>
          <a:stretch/>
        </p:blipFill>
        <p:spPr>
          <a:xfrm>
            <a:off x="3132000" y="4210920"/>
            <a:ext cx="1368000" cy="469080"/>
          </a:xfrm>
          <a:prstGeom prst="rect">
            <a:avLst/>
          </a:prstGeom>
          <a:ln w="0">
            <a:noFill/>
          </a:ln>
        </p:spPr>
      </p:pic>
      <p:pic>
        <p:nvPicPr>
          <p:cNvPr id="111" name="" descr=""/>
          <p:cNvPicPr/>
          <p:nvPr/>
        </p:nvPicPr>
        <p:blipFill>
          <a:blip r:embed="rId13"/>
          <a:stretch/>
        </p:blipFill>
        <p:spPr>
          <a:xfrm>
            <a:off x="5472000" y="4210920"/>
            <a:ext cx="1368000" cy="469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Рисунок 4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/>
          <p:cNvPicPr/>
          <p:nvPr/>
        </p:nvPicPr>
        <p:blipFill>
          <a:blip r:embed="rId1"/>
          <a:stretch/>
        </p:blipFill>
        <p:spPr>
          <a:xfrm>
            <a:off x="414360" y="335520"/>
            <a:ext cx="7171920" cy="942480"/>
          </a:xfrm>
          <a:prstGeom prst="rect">
            <a:avLst/>
          </a:prstGeom>
          <a:ln w="0">
            <a:noFill/>
          </a:ln>
        </p:spPr>
      </p:pic>
      <p:sp>
        <p:nvSpPr>
          <p:cNvPr id="113" name="TextBox 5"/>
          <p:cNvSpPr/>
          <p:nvPr/>
        </p:nvSpPr>
        <p:spPr>
          <a:xfrm>
            <a:off x="923400" y="384840"/>
            <a:ext cx="6096600" cy="5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2800" spc="-1" strike="noStrike">
                <a:solidFill>
                  <a:srgbClr val="ffffff"/>
                </a:solidFill>
                <a:latin typeface="Arial"/>
              </a:rPr>
              <a:t>Реализованный функционал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14" name="Параллелограмм 6"/>
          <p:cNvSpPr/>
          <p:nvPr/>
        </p:nvSpPr>
        <p:spPr>
          <a:xfrm>
            <a:off x="414360" y="2700000"/>
            <a:ext cx="5414760" cy="3772800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701"/>
              </a:spcBef>
              <a:spcAft>
                <a:spcPts val="1701"/>
              </a:spcAft>
              <a:buNone/>
            </a:pPr>
            <a:r>
              <a:rPr b="0" lang="ru-RU" sz="1800" spc="-1" strike="noStrike">
                <a:latin typeface="Arial"/>
              </a:rPr>
              <a:t>Безопасное хранение</a:t>
            </a:r>
            <a:r>
              <a:rPr b="0" lang="ru-RU" sz="1800" spc="-1" strike="noStrike">
                <a:latin typeface="Arial"/>
              </a:rPr>
              <a:t>	</a:t>
            </a:r>
            <a:endParaRPr b="0" lang="ru-RU" sz="18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spcBef>
                <a:spcPts val="1701"/>
              </a:spcBef>
              <a:spcAft>
                <a:spcPts val="1701"/>
              </a:spcAft>
              <a:buNone/>
            </a:pPr>
            <a:r>
              <a:rPr b="0" lang="ru-RU" sz="1800" spc="-1" strike="noStrike">
                <a:latin typeface="Arial"/>
              </a:rPr>
              <a:t>Агрегация данных</a:t>
            </a:r>
            <a:r>
              <a:rPr b="0" lang="ru-RU" sz="1800" spc="-1" strike="noStrike">
                <a:latin typeface="Arial"/>
              </a:rPr>
              <a:t>	</a:t>
            </a:r>
            <a:endParaRPr b="0" lang="ru-RU" sz="18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spcBef>
                <a:spcPts val="1701"/>
              </a:spcBef>
              <a:spcAft>
                <a:spcPts val="1701"/>
              </a:spcAft>
              <a:buNone/>
            </a:pPr>
            <a:r>
              <a:rPr b="0" lang="ru-RU" sz="1800" spc="-1" strike="noStrike">
                <a:latin typeface="Arial"/>
              </a:rPr>
              <a:t>Бизнес-логика</a:t>
            </a:r>
            <a:r>
              <a:rPr b="0" lang="ru-RU" sz="1800" spc="-1" strike="noStrike">
                <a:latin typeface="Arial"/>
              </a:rPr>
              <a:t>	</a:t>
            </a:r>
            <a:endParaRPr b="0" lang="ru-RU" sz="18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spcBef>
                <a:spcPts val="1701"/>
              </a:spcBef>
              <a:spcAft>
                <a:spcPts val="1701"/>
              </a:spcAft>
              <a:buNone/>
            </a:pPr>
            <a:r>
              <a:rPr b="0" lang="ru-RU" sz="1800" spc="-1" strike="noStrike">
                <a:latin typeface="Arial"/>
              </a:rPr>
              <a:t>Монетизация</a:t>
            </a:r>
            <a:r>
              <a:rPr b="0" lang="ru-RU" sz="1800" spc="-1" strike="noStrike">
                <a:latin typeface="Arial"/>
              </a:rPr>
              <a:t>	</a:t>
            </a:r>
            <a:endParaRPr b="0" lang="ru-RU" sz="1800" spc="-1" strike="noStrike">
              <a:latin typeface="Arial"/>
              <a:ea typeface="Noto Sans CJK SC"/>
            </a:endParaRPr>
          </a:p>
        </p:txBody>
      </p:sp>
      <p:sp>
        <p:nvSpPr>
          <p:cNvPr id="115" name="Параллелограмм 7"/>
          <p:cNvSpPr/>
          <p:nvPr/>
        </p:nvSpPr>
        <p:spPr>
          <a:xfrm>
            <a:off x="6095880" y="2700000"/>
            <a:ext cx="5414760" cy="3772800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None/>
            </a:pPr>
            <a:endParaRPr b="0" lang="ru-RU" sz="12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None/>
            </a:pPr>
            <a:r>
              <a:rPr b="0" lang="ru-RU" sz="1200" spc="-1" strike="noStrike">
                <a:latin typeface="Arial"/>
              </a:rPr>
              <a:t>✅ </a:t>
            </a:r>
            <a:r>
              <a:rPr b="0" lang="ru-RU" sz="1200" spc="-1" strike="noStrike">
                <a:latin typeface="Arial"/>
              </a:rPr>
              <a:t>Реализовано. Пароли хэшируются (bcrypt), для доступа к API используются JWT-токены. Чувствительные данные не хранятся в открытом виде.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None/>
            </a:pPr>
            <a:r>
              <a:rPr b="0" lang="ru-RU" sz="1200" spc="-1" strike="noStrike">
                <a:latin typeface="Arial"/>
              </a:rPr>
              <a:t>✅ </a:t>
            </a:r>
            <a:r>
              <a:rPr b="0" lang="ru-RU" sz="1200" spc="-1" strike="noStrike">
                <a:latin typeface="Arial"/>
              </a:rPr>
              <a:t>Реализовано. Получаем балансы, детали счетов и историю транзакций. Данные обновляются по запросу пользователя (pull-to-refresh).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None/>
            </a:pPr>
            <a:r>
              <a:rPr b="0" lang="ru-RU" sz="1200" spc="-1" strike="noStrike">
                <a:latin typeface="Arial"/>
              </a:rPr>
              <a:t>✅ </a:t>
            </a:r>
            <a:r>
              <a:rPr b="0" lang="ru-RU" sz="1200" spc="-1" strike="noStrike">
                <a:latin typeface="Arial"/>
              </a:rPr>
              <a:t>Реализовано. Пользовательская ценность — аналитика. Реализован расчёт оборотов (приход/расход) за произвольный период и фильтрация транзакций.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None/>
            </a:pPr>
            <a:r>
              <a:rPr b="0" lang="ru-RU" sz="1200" spc="-1" strike="noStrike">
                <a:latin typeface="Arial"/>
              </a:rPr>
              <a:t>✅ </a:t>
            </a:r>
            <a:r>
              <a:rPr b="0" lang="ru-RU" sz="1200" spc="-1" strike="noStrike">
                <a:latin typeface="Arial"/>
              </a:rPr>
              <a:t>Реализован элемент. Добавлена функция экспорта в Excel, которая является частью нашей Premium-модели.</a:t>
            </a:r>
            <a:endParaRPr b="0" lang="ru-RU" sz="1200" spc="-1" strike="noStrike">
              <a:latin typeface="Arial"/>
              <a:ea typeface="Noto Sans CJK SC"/>
            </a:endParaRPr>
          </a:p>
        </p:txBody>
      </p:sp>
      <p:pic>
        <p:nvPicPr>
          <p:cNvPr id="116" name="Рисунок 1" descr="Изображение выглядит как текст, Шрифт, снимок экрана, Графика&#10;&#10;Содержимое, созданное искусственным интеллектом, может быть неверным."/>
          <p:cNvPicPr/>
          <p:nvPr/>
        </p:nvPicPr>
        <p:blipFill>
          <a:blip r:embed="rId2"/>
          <a:srcRect l="0" t="0" r="0" b="42847"/>
          <a:stretch/>
        </p:blipFill>
        <p:spPr>
          <a:xfrm>
            <a:off x="9243000" y="476280"/>
            <a:ext cx="2267640" cy="660600"/>
          </a:xfrm>
          <a:prstGeom prst="rect">
            <a:avLst/>
          </a:prstGeom>
          <a:ln w="0">
            <a:noFill/>
          </a:ln>
        </p:spPr>
      </p:pic>
      <p:sp>
        <p:nvSpPr>
          <p:cNvPr id="117" name="Рисунок 2"/>
          <p:cNvSpPr txBox="1"/>
          <p:nvPr/>
        </p:nvSpPr>
        <p:spPr>
          <a:xfrm>
            <a:off x="720000" y="1577520"/>
            <a:ext cx="5040000" cy="942480"/>
          </a:xfrm>
          <a:prstGeom prst="rect">
            <a:avLst/>
          </a:prstGeom>
          <a:blipFill rotWithShape="0">
            <a:blip r:embed="rId3"/>
            <a:stretch/>
          </a:blipFill>
          <a:ln w="0">
            <a:noFill/>
          </a:ln>
        </p:spPr>
        <p:txBody>
          <a:bodyPr lIns="90000" rIns="90000" tIns="45000" bIns="45000" anchor="t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2800" spc="-1" strike="noStrike">
                <a:latin typeface="Arial"/>
              </a:rPr>
              <a:t>Требование</a:t>
            </a:r>
            <a:r>
              <a:rPr b="0" lang="ru-RU" sz="2800" spc="-1" strike="noStrike">
                <a:latin typeface="Arial"/>
              </a:rPr>
              <a:t>	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18" name="Рисунок 5"/>
          <p:cNvSpPr txBox="1"/>
          <p:nvPr/>
        </p:nvSpPr>
        <p:spPr>
          <a:xfrm>
            <a:off x="5940000" y="1577520"/>
            <a:ext cx="5040000" cy="942480"/>
          </a:xfrm>
          <a:prstGeom prst="rect">
            <a:avLst/>
          </a:prstGeom>
          <a:blipFill rotWithShape="0">
            <a:blip r:embed="rId4"/>
            <a:stretch/>
          </a:blipFill>
          <a:ln w="0">
            <a:noFill/>
          </a:ln>
        </p:spPr>
        <p:txBody>
          <a:bodyPr lIns="90000" rIns="90000" tIns="45000" bIns="45000" anchor="t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2800" spc="-1" strike="noStrike">
                <a:latin typeface="Arial"/>
              </a:rPr>
              <a:t>Реализац</a:t>
            </a:r>
            <a:r>
              <a:rPr b="0" lang="ru-RU" sz="2800" spc="-1" strike="noStrike">
                <a:latin typeface="Arial"/>
              </a:rPr>
              <a:t>ия в </a:t>
            </a:r>
            <a:r>
              <a:rPr b="0" lang="ru-RU" sz="2800" spc="-1" strike="noStrike">
                <a:latin typeface="Arial"/>
              </a:rPr>
              <a:t>FinApp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Рисунок 6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/>
          <p:cNvPicPr/>
          <p:nvPr/>
        </p:nvPicPr>
        <p:blipFill>
          <a:blip r:embed="rId1"/>
          <a:stretch/>
        </p:blipFill>
        <p:spPr>
          <a:xfrm>
            <a:off x="414360" y="335520"/>
            <a:ext cx="7171920" cy="942480"/>
          </a:xfrm>
          <a:prstGeom prst="rect">
            <a:avLst/>
          </a:prstGeom>
          <a:ln w="0">
            <a:noFill/>
          </a:ln>
        </p:spPr>
      </p:pic>
      <p:sp>
        <p:nvSpPr>
          <p:cNvPr id="120" name="TextBox 1"/>
          <p:cNvSpPr/>
          <p:nvPr/>
        </p:nvSpPr>
        <p:spPr>
          <a:xfrm>
            <a:off x="923400" y="384840"/>
            <a:ext cx="609660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2800" spc="-1" strike="noStrike">
                <a:solidFill>
                  <a:srgbClr val="ffffff"/>
                </a:solidFill>
                <a:latin typeface="Arial"/>
              </a:rPr>
              <a:t>Соответствие </a:t>
            </a:r>
            <a:r>
              <a:rPr b="1" lang="ru-RU" sz="2800" spc="-1" strike="noStrike">
                <a:solidFill>
                  <a:srgbClr val="ffffff"/>
                </a:solidFill>
                <a:latin typeface="Arial"/>
              </a:rPr>
              <a:t>требованиям: </a:t>
            </a:r>
            <a:r>
              <a:rPr b="1" lang="ru-RU" sz="2800" spc="-1" strike="noStrike">
                <a:solidFill>
                  <a:srgbClr val="ffffff"/>
                </a:solidFill>
                <a:latin typeface="Arial"/>
              </a:rPr>
              <a:t>Технологии и </a:t>
            </a:r>
            <a:r>
              <a:rPr b="1" lang="ru-RU" sz="2800" spc="-1" strike="noStrike">
                <a:solidFill>
                  <a:srgbClr val="ffffff"/>
                </a:solidFill>
                <a:latin typeface="Arial"/>
              </a:rPr>
              <a:t>UX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21" name="Параллелограмм 1"/>
          <p:cNvSpPr/>
          <p:nvPr/>
        </p:nvSpPr>
        <p:spPr>
          <a:xfrm>
            <a:off x="414360" y="2700000"/>
            <a:ext cx="5414760" cy="3772800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417"/>
              </a:spcBef>
              <a:spcAft>
                <a:spcPts val="1417"/>
              </a:spcAft>
              <a:buNone/>
            </a:pPr>
            <a:r>
              <a:rPr b="0" lang="ru-RU" sz="1200" spc="-1" strike="noStrike">
                <a:latin typeface="Arial"/>
                <a:ea typeface="Noto Sans CJK SC"/>
              </a:rPr>
              <a:t>Интуитивный UI/UХ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spcBef>
                <a:spcPts val="1417"/>
              </a:spcBef>
              <a:spcAft>
                <a:spcPts val="1417"/>
              </a:spcAft>
              <a:buNone/>
            </a:pPr>
            <a:r>
              <a:rPr b="0" lang="ru-RU" sz="1200" spc="-1" strike="noStrike">
                <a:latin typeface="Arial"/>
                <a:ea typeface="Noto Sans CJK SC"/>
              </a:rPr>
              <a:t>Надёжность</a:t>
            </a:r>
            <a:r>
              <a:rPr b="0" lang="ru-RU" sz="1200" spc="-1" strike="noStrike">
                <a:latin typeface="Arial"/>
                <a:ea typeface="Noto Sans CJK SC"/>
              </a:rPr>
              <a:t>	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spcBef>
                <a:spcPts val="1417"/>
              </a:spcBef>
              <a:spcAft>
                <a:spcPts val="1417"/>
              </a:spcAft>
              <a:buNone/>
            </a:pPr>
            <a:r>
              <a:rPr b="0" lang="ru-RU" sz="1200" spc="-1" strike="noStrike">
                <a:latin typeface="Arial"/>
                <a:ea typeface="Noto Sans CJK SC"/>
              </a:rPr>
              <a:t>Мобильный интерфейс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spcBef>
                <a:spcPts val="1417"/>
              </a:spcBef>
              <a:spcAft>
                <a:spcPts val="1417"/>
              </a:spcAft>
              <a:buNone/>
            </a:pPr>
            <a:r>
              <a:rPr b="0" lang="ru-RU" sz="1200" spc="-1" strike="noStrike">
                <a:latin typeface="Arial"/>
                <a:ea typeface="Noto Sans CJK SC"/>
              </a:rPr>
              <a:t>Дашборды и визуализация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spcBef>
                <a:spcPts val="1417"/>
              </a:spcBef>
              <a:spcAft>
                <a:spcPts val="1417"/>
              </a:spcAft>
              <a:buNone/>
            </a:pPr>
            <a:r>
              <a:rPr b="0" lang="ru-RU" sz="1200" spc="-1" strike="noStrike">
                <a:latin typeface="Arial"/>
                <a:ea typeface="Noto Sans CJK SC"/>
              </a:rPr>
              <a:t>Экспорт данных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spcBef>
                <a:spcPts val="1417"/>
              </a:spcBef>
              <a:spcAft>
                <a:spcPts val="1417"/>
              </a:spcAft>
              <a:buNone/>
            </a:pPr>
            <a:r>
              <a:rPr b="0" lang="ru-RU" sz="1200" spc="-1" strike="noStrike">
                <a:latin typeface="Arial"/>
                <a:ea typeface="Noto Sans CJK SC"/>
              </a:rPr>
              <a:t>Уведомления</a:t>
            </a:r>
            <a:endParaRPr b="0" lang="ru-RU" sz="1200" spc="-1" strike="noStrike">
              <a:latin typeface="Arial"/>
              <a:ea typeface="Noto Sans CJK SC"/>
            </a:endParaRPr>
          </a:p>
        </p:txBody>
      </p:sp>
      <p:sp>
        <p:nvSpPr>
          <p:cNvPr id="122" name="Параллелограмм 2"/>
          <p:cNvSpPr/>
          <p:nvPr/>
        </p:nvSpPr>
        <p:spPr>
          <a:xfrm>
            <a:off x="6095880" y="2700000"/>
            <a:ext cx="5414760" cy="3772800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200" spc="-1" strike="noStrike">
                <a:latin typeface="Arial"/>
                <a:ea typeface="Noto Sans CJK SC"/>
              </a:rPr>
              <a:t>✅ </a:t>
            </a:r>
            <a:r>
              <a:rPr b="0" lang="ru-RU" sz="1200" spc="-1" strike="noStrike">
                <a:latin typeface="Arial"/>
                <a:ea typeface="Noto Sans CJK SC"/>
              </a:rPr>
              <a:t>Реализовано. Чистый, минималистичный интерфейс, с которым легко разобраться без инструкций.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</a:pPr>
            <a:r>
              <a:rPr b="0" lang="ru-RU" sz="1200" spc="-1" strike="noStrike">
                <a:latin typeface="Arial"/>
                <a:ea typeface="Noto Sans CJK SC"/>
              </a:rPr>
              <a:t>✅ </a:t>
            </a:r>
            <a:r>
              <a:rPr b="0" lang="ru-RU" sz="1200" spc="-1" strike="noStrike">
                <a:latin typeface="Arial"/>
                <a:ea typeface="Noto Sans CJK SC"/>
              </a:rPr>
              <a:t>Реализовано. Наш бэкенд обрабатывает ошибки API банков, включая некорректную пагинацию, и использует дедупликацию для корректного суммирования.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</a:pPr>
            <a:r>
              <a:rPr b="0" lang="ru-RU" sz="1200" spc="-1" strike="noStrike">
                <a:latin typeface="Arial"/>
                <a:ea typeface="Noto Sans CJK SC"/>
              </a:rPr>
              <a:t>✅ </a:t>
            </a:r>
            <a:r>
              <a:rPr b="0" lang="ru-RU" sz="1200" spc="-1" strike="noStrike">
                <a:latin typeface="Arial"/>
                <a:ea typeface="Noto Sans CJK SC"/>
              </a:rPr>
              <a:t>Реализовано. Приложение создано на Flutter, что обеспечивает нативную работу на iOS, Android, а также в вебе.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None/>
            </a:pPr>
            <a:r>
              <a:rPr b="0" lang="ru-RU" sz="1200" spc="-1" strike="noStrike">
                <a:latin typeface="Arial"/>
                <a:ea typeface="Noto Sans CJK SC"/>
              </a:rPr>
              <a:t>✅ </a:t>
            </a:r>
            <a:r>
              <a:rPr b="0" lang="ru-RU" sz="1200" spc="-1" strike="noStrike">
                <a:latin typeface="Arial"/>
                <a:ea typeface="Noto Sans CJK SC"/>
              </a:rPr>
              <a:t>Реализовано. Главный экран служит дашбордом с общим балансом. Карточка "Обороты за период" — пример наглядной визуализации данных.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</a:pPr>
            <a:r>
              <a:rPr b="0" lang="ru-RU" sz="1200" spc="-1" strike="noStrike">
                <a:latin typeface="Arial"/>
                <a:ea typeface="Noto Sans CJK SC"/>
              </a:rPr>
              <a:t>✅ </a:t>
            </a:r>
            <a:r>
              <a:rPr b="0" lang="ru-RU" sz="1200" spc="-1" strike="noStrike">
                <a:latin typeface="Arial"/>
                <a:ea typeface="Noto Sans CJK SC"/>
              </a:rPr>
              <a:t>Реализовано. Пользователи могут экспортировать список транзакций в формат Excel (.xlsx).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</a:pPr>
            <a:r>
              <a:rPr b="0" lang="ru-RU" sz="1200" spc="-1" strike="noStrike">
                <a:latin typeface="Arial"/>
                <a:ea typeface="Noto Sans CJK SC"/>
              </a:rPr>
              <a:t>⏳ </a:t>
            </a:r>
            <a:r>
              <a:rPr b="0" lang="ru-RU" sz="1200" spc="-1" strike="noStrike">
                <a:latin typeface="Arial"/>
                <a:ea typeface="Noto Sans CJK SC"/>
              </a:rPr>
              <a:t>В плане. Архитектура готова к внедрению push-уведомлений.</a:t>
            </a:r>
            <a:endParaRPr b="0" lang="ru-RU" sz="1200" spc="-1" strike="noStrike">
              <a:latin typeface="Arial"/>
              <a:ea typeface="Noto Sans CJK SC"/>
            </a:endParaRPr>
          </a:p>
        </p:txBody>
      </p:sp>
      <p:pic>
        <p:nvPicPr>
          <p:cNvPr id="123" name="Рисунок 7" descr="Изображение выглядит как текст, Шрифт, снимок экрана, Графика&#10;&#10;Содержимое, созданное искусственным интеллектом, может быть неверным."/>
          <p:cNvPicPr/>
          <p:nvPr/>
        </p:nvPicPr>
        <p:blipFill>
          <a:blip r:embed="rId2"/>
          <a:srcRect l="0" t="0" r="0" b="42847"/>
          <a:stretch/>
        </p:blipFill>
        <p:spPr>
          <a:xfrm>
            <a:off x="9243000" y="476280"/>
            <a:ext cx="2267640" cy="660600"/>
          </a:xfrm>
          <a:prstGeom prst="rect">
            <a:avLst/>
          </a:prstGeom>
          <a:ln w="0">
            <a:noFill/>
          </a:ln>
        </p:spPr>
      </p:pic>
      <p:sp>
        <p:nvSpPr>
          <p:cNvPr id="124" name="Рисунок 8"/>
          <p:cNvSpPr txBox="1"/>
          <p:nvPr/>
        </p:nvSpPr>
        <p:spPr>
          <a:xfrm>
            <a:off x="720000" y="1577520"/>
            <a:ext cx="5040000" cy="942480"/>
          </a:xfrm>
          <a:prstGeom prst="rect">
            <a:avLst/>
          </a:prstGeom>
          <a:blipFill rotWithShape="0">
            <a:blip r:embed="rId3"/>
            <a:stretch/>
          </a:blipFill>
          <a:ln w="0">
            <a:noFill/>
          </a:ln>
        </p:spPr>
        <p:txBody>
          <a:bodyPr lIns="90000" rIns="90000" tIns="45000" bIns="45000" anchor="t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2800" spc="-1" strike="noStrike">
                <a:latin typeface="Arial"/>
              </a:rPr>
              <a:t>Требование</a:t>
            </a:r>
            <a:r>
              <a:rPr b="0" lang="ru-RU" sz="2800" spc="-1" strike="noStrike">
                <a:latin typeface="Arial"/>
              </a:rPr>
              <a:t>	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25" name="Рисунок 9"/>
          <p:cNvSpPr txBox="1"/>
          <p:nvPr/>
        </p:nvSpPr>
        <p:spPr>
          <a:xfrm>
            <a:off x="5940000" y="1577520"/>
            <a:ext cx="5040000" cy="942480"/>
          </a:xfrm>
          <a:prstGeom prst="rect">
            <a:avLst/>
          </a:prstGeom>
          <a:blipFill rotWithShape="0">
            <a:blip r:embed="rId4"/>
            <a:stretch/>
          </a:blipFill>
          <a:ln w="0">
            <a:noFill/>
          </a:ln>
        </p:spPr>
        <p:txBody>
          <a:bodyPr lIns="90000" rIns="90000" tIns="45000" bIns="45000" anchor="t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2800" spc="-1" strike="noStrike">
                <a:latin typeface="Arial"/>
              </a:rPr>
              <a:t>Реализация в FinApp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Рисунок 11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/>
          <p:cNvPicPr/>
          <p:nvPr/>
        </p:nvPicPr>
        <p:blipFill>
          <a:blip r:embed="rId1"/>
          <a:stretch/>
        </p:blipFill>
        <p:spPr>
          <a:xfrm>
            <a:off x="414360" y="335520"/>
            <a:ext cx="7171920" cy="942480"/>
          </a:xfrm>
          <a:prstGeom prst="rect">
            <a:avLst/>
          </a:prstGeom>
          <a:ln w="0">
            <a:noFill/>
          </a:ln>
        </p:spPr>
      </p:pic>
      <p:sp>
        <p:nvSpPr>
          <p:cNvPr id="127" name="TextBox 3"/>
          <p:cNvSpPr/>
          <p:nvPr/>
        </p:nvSpPr>
        <p:spPr>
          <a:xfrm>
            <a:off x="923400" y="384840"/>
            <a:ext cx="6096600" cy="5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2800" spc="-1" strike="noStrike">
                <a:solidFill>
                  <a:srgbClr val="ffffff"/>
                </a:solidFill>
                <a:latin typeface="Arial"/>
              </a:rPr>
              <a:t>Как FinApp будет зарабатывать?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28" name="Параллелограмм 3"/>
          <p:cNvSpPr/>
          <p:nvPr/>
        </p:nvSpPr>
        <p:spPr>
          <a:xfrm>
            <a:off x="414360" y="2700000"/>
            <a:ext cx="5414760" cy="3772800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ru-RU" sz="1200" spc="-1" strike="noStrike">
                <a:latin typeface="Arial"/>
                <a:ea typeface="Noto Sans CJK SC"/>
              </a:rPr>
              <a:t>FREE (Бесплатно):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200" spc="-1" strike="noStrike">
                <a:latin typeface="Arial"/>
                <a:ea typeface="Noto Sans CJK SC"/>
              </a:rPr>
              <a:t>Подключение всех банков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200" spc="-1" strike="noStrike">
                <a:latin typeface="Arial"/>
                <a:ea typeface="Noto Sans CJK SC"/>
              </a:rPr>
              <a:t>Просмотр балансов и транзакций за последние 10 дней.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200" spc="-1" strike="noStrike">
                <a:latin typeface="Arial"/>
                <a:ea typeface="Noto Sans CJK SC"/>
              </a:rPr>
              <a:t>Основная цель: дать пользователю оценить удобство единого окна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200" spc="-1" strike="noStrike">
              <a:latin typeface="Arial"/>
              <a:ea typeface="Noto Sans CJK SC"/>
            </a:endParaRPr>
          </a:p>
          <a:p>
            <a:pPr>
              <a:lnSpc>
                <a:spcPct val="100000"/>
              </a:lnSpc>
              <a:buNone/>
            </a:pPr>
            <a:r>
              <a:rPr b="1" lang="ru-RU" sz="1200" spc="-1" strike="noStrike">
                <a:latin typeface="Arial"/>
                <a:ea typeface="Noto Sans CJK SC"/>
              </a:rPr>
              <a:t>PREMIUM (Подписка):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200" spc="-1" strike="noStrike">
                <a:latin typeface="Arial"/>
                <a:ea typeface="Noto Sans CJK SC"/>
              </a:rPr>
              <a:t>Неограниченный период просмотра транзакций.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200" spc="-1" strike="noStrike">
                <a:latin typeface="Arial"/>
                <a:ea typeface="Noto Sans CJK SC"/>
              </a:rPr>
              <a:t>Экспорт отчётов в Excel (уже реализовано!)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200" spc="-1" strike="noStrike">
                <a:latin typeface="Arial"/>
                <a:ea typeface="Noto Sans CJK SC"/>
              </a:rPr>
              <a:t>Продвинутая аналитика, отчёты, отслеживание предстоящих платежей по картам/кредитам, автоплатеж, напоминание, (в разработке).</a:t>
            </a:r>
            <a:endParaRPr b="0" lang="ru-RU" sz="1200" spc="-1" strike="noStrike">
              <a:latin typeface="Arial"/>
              <a:ea typeface="Noto Sans CJK SC"/>
            </a:endParaRPr>
          </a:p>
        </p:txBody>
      </p:sp>
      <p:sp>
        <p:nvSpPr>
          <p:cNvPr id="129" name="Параллелограмм 4"/>
          <p:cNvSpPr/>
          <p:nvPr/>
        </p:nvSpPr>
        <p:spPr>
          <a:xfrm>
            <a:off x="6095880" y="2700000"/>
            <a:ext cx="5414760" cy="3772800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ru-RU" sz="1200" spc="-1" strike="noStrike">
                <a:latin typeface="Arial"/>
                <a:ea typeface="Noto Sans CJK SC"/>
              </a:rPr>
              <a:t>Ненавязчивые рекомендации, выгодные пользователю.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200" spc="-1" strike="noStrike">
                <a:latin typeface="Arial"/>
                <a:ea typeface="Noto Sans CJK SC"/>
              </a:rPr>
              <a:t>Пример: "Мы заметили, что у вас есть кредит под 15%. Наш банк-партнёр готов предложить рефинансирование под 11%. Узнать больше?"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200" spc="-1" strike="noStrike">
                <a:latin typeface="Arial"/>
                <a:ea typeface="Noto Sans CJK SC"/>
              </a:rPr>
              <a:t>Win-Win: Пользователь экономит деньги, мы получаем комиссию.</a:t>
            </a:r>
            <a:endParaRPr b="0" lang="ru-RU" sz="1200" spc="-1" strike="noStrike">
              <a:latin typeface="Arial"/>
              <a:ea typeface="Noto Sans CJK SC"/>
            </a:endParaRPr>
          </a:p>
        </p:txBody>
      </p:sp>
      <p:pic>
        <p:nvPicPr>
          <p:cNvPr id="130" name="Рисунок 12" descr="Изображение выглядит как текст, Шрифт, снимок экрана, Графика&#10;&#10;Содержимое, созданное искусственным интеллектом, может быть неверным."/>
          <p:cNvPicPr/>
          <p:nvPr/>
        </p:nvPicPr>
        <p:blipFill>
          <a:blip r:embed="rId2"/>
          <a:srcRect l="0" t="0" r="0" b="42847"/>
          <a:stretch/>
        </p:blipFill>
        <p:spPr>
          <a:xfrm>
            <a:off x="9243000" y="476280"/>
            <a:ext cx="2267640" cy="660600"/>
          </a:xfrm>
          <a:prstGeom prst="rect">
            <a:avLst/>
          </a:prstGeom>
          <a:ln w="0">
            <a:noFill/>
          </a:ln>
        </p:spPr>
      </p:pic>
      <p:sp>
        <p:nvSpPr>
          <p:cNvPr id="131" name="Рисунок 13"/>
          <p:cNvSpPr txBox="1"/>
          <p:nvPr/>
        </p:nvSpPr>
        <p:spPr>
          <a:xfrm>
            <a:off x="720000" y="1577520"/>
            <a:ext cx="5040000" cy="942480"/>
          </a:xfrm>
          <a:prstGeom prst="rect">
            <a:avLst/>
          </a:prstGeom>
          <a:blipFill rotWithShape="0">
            <a:blip r:embed="rId3"/>
            <a:stretch/>
          </a:blipFill>
          <a:ln w="0">
            <a:noFill/>
          </a:ln>
        </p:spPr>
        <p:txBody>
          <a:bodyPr lIns="90000" rIns="90000" tIns="45000" bIns="45000" anchor="t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latin typeface="Arial"/>
              </a:rPr>
              <a:t>Модель 1: Freemium </a:t>
            </a:r>
            <a:endParaRPr b="0" lang="ru-RU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latin typeface="Arial"/>
              </a:rPr>
              <a:t>(функционал готов)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32" name="Рисунок 14"/>
          <p:cNvSpPr txBox="1"/>
          <p:nvPr/>
        </p:nvSpPr>
        <p:spPr>
          <a:xfrm>
            <a:off x="5940000" y="1577520"/>
            <a:ext cx="5040000" cy="942480"/>
          </a:xfrm>
          <a:prstGeom prst="rect">
            <a:avLst/>
          </a:prstGeom>
          <a:blipFill rotWithShape="0">
            <a:blip r:embed="rId4"/>
            <a:stretch/>
          </a:blipFill>
          <a:ln w="0">
            <a:noFill/>
          </a:ln>
        </p:spPr>
        <p:txBody>
          <a:bodyPr lIns="90000" rIns="90000" tIns="45000" bIns="45000" anchor="t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latin typeface="Arial"/>
              </a:rPr>
              <a:t>Модель 2: Партнёрские программы </a:t>
            </a:r>
            <a:endParaRPr b="0" lang="ru-RU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latin typeface="Arial"/>
              </a:rPr>
              <a:t>(будущее развитие)</a:t>
            </a:r>
            <a:endParaRPr b="0" lang="ru-RU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4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/>
          <p:cNvPicPr/>
          <p:nvPr/>
        </p:nvPicPr>
        <p:blipFill>
          <a:blip r:embed="rId1"/>
          <a:stretch/>
        </p:blipFill>
        <p:spPr>
          <a:xfrm>
            <a:off x="414360" y="335520"/>
            <a:ext cx="7171920" cy="942480"/>
          </a:xfrm>
          <a:prstGeom prst="rect">
            <a:avLst/>
          </a:prstGeom>
          <a:ln w="0">
            <a:noFill/>
          </a:ln>
        </p:spPr>
      </p:pic>
      <p:sp>
        <p:nvSpPr>
          <p:cNvPr id="134" name="TextBox 5"/>
          <p:cNvSpPr/>
          <p:nvPr/>
        </p:nvSpPr>
        <p:spPr>
          <a:xfrm>
            <a:off x="923400" y="384840"/>
            <a:ext cx="6096600" cy="5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2800" spc="-1" strike="noStrike">
                <a:solidFill>
                  <a:srgbClr val="ffffff"/>
                </a:solidFill>
                <a:latin typeface="Arial"/>
              </a:rPr>
              <a:t>Наше видение будущего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35" name="Параллелограмм 7"/>
          <p:cNvSpPr/>
          <p:nvPr/>
        </p:nvSpPr>
        <p:spPr>
          <a:xfrm>
            <a:off x="4680000" y="1644120"/>
            <a:ext cx="7097040" cy="4828680"/>
          </a:xfrm>
          <a:prstGeom prst="parallelogram">
            <a:avLst>
              <a:gd name="adj" fmla="val 18935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r>
              <a:rPr b="1" lang="ru-RU" sz="1200" spc="-1" strike="noStrike">
                <a:latin typeface="Arial"/>
              </a:rPr>
              <a:t>                      </a:t>
            </a:r>
            <a:r>
              <a:rPr b="1" lang="ru-RU" sz="1200" spc="-1" strike="noStrike">
                <a:latin typeface="Arial"/>
              </a:rPr>
              <a:t>Этап 1: Глубокая аналитика (Ближайшие 1 месяц)</a:t>
            </a:r>
            <a:endParaRPr b="0" lang="ru-RU" sz="1200" spc="-1" strike="noStrike">
              <a:latin typeface="Arial"/>
            </a:endParaRPr>
          </a:p>
          <a:p>
            <a:endParaRPr b="0" lang="ru-RU" sz="1200" spc="-1" strike="noStrike">
              <a:latin typeface="Arial"/>
            </a:endParaRPr>
          </a:p>
          <a:p>
            <a:r>
              <a:rPr b="0" lang="ru-RU" sz="1200" spc="-1" strike="noStrike">
                <a:latin typeface="Arial"/>
              </a:rPr>
              <a:t>                     </a:t>
            </a:r>
            <a:r>
              <a:rPr b="0" lang="ru-RU" sz="1200" spc="-1" strike="noStrike">
                <a:latin typeface="Arial"/>
              </a:rPr>
              <a:t>Автоматическая категоризация расходов для </a:t>
            </a:r>
            <a:r>
              <a:rPr b="0" lang="ru-RU" sz="1200" spc="-1" strike="noStrike">
                <a:latin typeface="Arial"/>
              </a:rPr>
              <a:t>	</a:t>
            </a:r>
            <a:r>
              <a:rPr b="0" lang="ru-RU" sz="1200" spc="-1" strike="noStrike">
                <a:latin typeface="Arial"/>
              </a:rPr>
              <a:t>                              наглядного понимания, куда уходят деньги.</a:t>
            </a:r>
            <a:endParaRPr b="0" lang="ru-RU" sz="1200" spc="-1" strike="noStrike">
              <a:latin typeface="Arial"/>
            </a:endParaRPr>
          </a:p>
          <a:p>
            <a:endParaRPr b="0" lang="ru-RU" sz="1200" spc="-1" strike="noStrike">
              <a:latin typeface="Arial"/>
            </a:endParaRPr>
          </a:p>
          <a:p>
            <a:r>
              <a:rPr b="0" lang="ru-RU" sz="1200" spc="-1" strike="noStrike">
                <a:latin typeface="Arial"/>
              </a:rPr>
              <a:t>                   </a:t>
            </a:r>
            <a:r>
              <a:rPr b="0" lang="ru-RU" sz="1200" spc="-1" strike="noStrike">
                <a:latin typeface="Arial"/>
              </a:rPr>
              <a:t>Напоминания: На основе дат выписки и платежа, которые</a:t>
            </a:r>
            <a:endParaRPr b="0" lang="ru-RU" sz="1200" spc="-1" strike="noStrike">
              <a:latin typeface="Arial"/>
            </a:endParaRPr>
          </a:p>
          <a:p>
            <a:r>
              <a:rPr b="0" lang="ru-RU" sz="1200" spc="-1" strike="noStrike">
                <a:latin typeface="Arial"/>
              </a:rPr>
              <a:t>                  </a:t>
            </a:r>
            <a:r>
              <a:rPr b="0" lang="ru-RU" sz="1200" spc="-1" strike="noStrike">
                <a:latin typeface="Arial"/>
              </a:rPr>
              <a:t>пользователь уже может указать, будем присылать push-                     уведомления о предстоящих платежах.</a:t>
            </a:r>
            <a:endParaRPr b="0" lang="ru-RU" sz="1200" spc="-1" strike="noStrike">
              <a:latin typeface="Arial"/>
            </a:endParaRPr>
          </a:p>
          <a:p>
            <a:r>
              <a:rPr b="0" lang="ru-RU" sz="1200" spc="-1" strike="noStrike">
                <a:latin typeface="Arial"/>
              </a:rPr>
              <a:t> </a:t>
            </a:r>
            <a:endParaRPr b="0" lang="ru-RU" sz="1200" spc="-1" strike="noStrike">
              <a:latin typeface="Arial"/>
            </a:endParaRPr>
          </a:p>
          <a:p>
            <a:r>
              <a:rPr b="1" lang="ru-RU" sz="1200" spc="-1" strike="noStrike">
                <a:latin typeface="Arial"/>
              </a:rPr>
              <a:t>               </a:t>
            </a:r>
            <a:r>
              <a:rPr b="1" lang="ru-RU" sz="1200" spc="-1" strike="noStrike">
                <a:latin typeface="Arial"/>
              </a:rPr>
              <a:t>Этап 2: Управление бюджетом (2 месяца)</a:t>
            </a:r>
            <a:endParaRPr b="0" lang="ru-RU" sz="1200" spc="-1" strike="noStrike">
              <a:latin typeface="Arial"/>
            </a:endParaRPr>
          </a:p>
          <a:p>
            <a:endParaRPr b="0" lang="ru-RU" sz="1200" spc="-1" strike="noStrike">
              <a:latin typeface="Arial"/>
            </a:endParaRPr>
          </a:p>
          <a:p>
            <a:r>
              <a:rPr b="0" lang="ru-RU" sz="1200" spc="-1" strike="noStrike">
                <a:latin typeface="Arial"/>
              </a:rPr>
              <a:t>             </a:t>
            </a:r>
            <a:r>
              <a:rPr b="0" lang="ru-RU" sz="1200" spc="-1" strike="noStrike">
                <a:latin typeface="Arial"/>
              </a:rPr>
              <a:t>Бюджетирование: Возможность устанавливать месячные </a:t>
            </a:r>
            <a:endParaRPr b="0" lang="ru-RU" sz="1200" spc="-1" strike="noStrike">
              <a:latin typeface="Arial"/>
            </a:endParaRPr>
          </a:p>
          <a:p>
            <a:r>
              <a:rPr b="0" lang="ru-RU" sz="1200" spc="-1" strike="noStrike">
                <a:latin typeface="Arial"/>
              </a:rPr>
              <a:t>            </a:t>
            </a:r>
            <a:r>
              <a:rPr b="0" lang="ru-RU" sz="1200" spc="-1" strike="noStrike">
                <a:latin typeface="Arial"/>
              </a:rPr>
              <a:t>лимиты на категории трат и получать уведомления при их    </a:t>
            </a:r>
            <a:endParaRPr b="0" lang="ru-RU" sz="1200" spc="-1" strike="noStrike">
              <a:latin typeface="Arial"/>
            </a:endParaRPr>
          </a:p>
          <a:p>
            <a:r>
              <a:rPr b="0" lang="ru-RU" sz="1200" spc="-1" strike="noStrike">
                <a:latin typeface="Arial"/>
              </a:rPr>
              <a:t>           </a:t>
            </a:r>
            <a:r>
              <a:rPr b="0" lang="ru-RU" sz="1200" spc="-1" strike="noStrike">
                <a:latin typeface="Arial"/>
              </a:rPr>
              <a:t>превышении.</a:t>
            </a:r>
            <a:endParaRPr b="0" lang="ru-RU" sz="1200" spc="-1" strike="noStrike">
              <a:latin typeface="Arial"/>
            </a:endParaRPr>
          </a:p>
          <a:p>
            <a:endParaRPr b="0" lang="ru-RU" sz="1200" spc="-1" strike="noStrike">
              <a:latin typeface="Arial"/>
            </a:endParaRPr>
          </a:p>
          <a:p>
            <a:r>
              <a:rPr b="0" lang="ru-RU" sz="1200" spc="-1" strike="noStrike">
                <a:latin typeface="Arial"/>
              </a:rPr>
              <a:t>         </a:t>
            </a:r>
            <a:r>
              <a:rPr b="0" lang="ru-RU" sz="1200" spc="-1" strike="noStrike">
                <a:latin typeface="Arial"/>
              </a:rPr>
              <a:t>Финансовые цели: Инструмент для отслеживания прогресса       </a:t>
            </a:r>
            <a:endParaRPr b="0" lang="ru-RU" sz="1200" spc="-1" strike="noStrike">
              <a:latin typeface="Arial"/>
            </a:endParaRPr>
          </a:p>
          <a:p>
            <a:r>
              <a:rPr b="0" lang="ru-RU" sz="1200" spc="-1" strike="noStrike">
                <a:latin typeface="Arial"/>
              </a:rPr>
              <a:t>        </a:t>
            </a:r>
            <a:r>
              <a:rPr b="0" lang="ru-RU" sz="1200" spc="-1" strike="noStrike">
                <a:latin typeface="Arial"/>
              </a:rPr>
              <a:t>накоплений на крупные покупки.</a:t>
            </a:r>
            <a:endParaRPr b="0" lang="ru-RU" sz="1200" spc="-1" strike="noStrike">
              <a:latin typeface="Arial"/>
            </a:endParaRPr>
          </a:p>
          <a:p>
            <a:endParaRPr b="0" lang="ru-RU" sz="1200" spc="-1" strike="noStrike">
              <a:latin typeface="Arial"/>
            </a:endParaRPr>
          </a:p>
          <a:p>
            <a:r>
              <a:rPr b="1" lang="ru-RU" sz="1200" spc="-1" strike="noStrike">
                <a:latin typeface="Arial"/>
              </a:rPr>
              <a:t>       </a:t>
            </a:r>
            <a:r>
              <a:rPr b="1" lang="ru-RU" sz="1200" spc="-1" strike="noStrike">
                <a:latin typeface="Arial"/>
              </a:rPr>
              <a:t>Этап 3: Финансовый помощник (3 месяца)</a:t>
            </a:r>
            <a:endParaRPr b="0" lang="ru-RU" sz="1200" spc="-1" strike="noStrike">
              <a:latin typeface="Arial"/>
            </a:endParaRPr>
          </a:p>
          <a:p>
            <a:endParaRPr b="0" lang="ru-RU" sz="1200" spc="-1" strike="noStrike">
              <a:latin typeface="Arial"/>
            </a:endParaRPr>
          </a:p>
          <a:p>
            <a:r>
              <a:rPr b="0" lang="ru-RU" sz="1200" spc="-1" strike="noStrike">
                <a:latin typeface="Arial"/>
              </a:rPr>
              <a:t>     </a:t>
            </a:r>
            <a:r>
              <a:rPr b="0" lang="ru-RU" sz="1200" spc="-1" strike="noStrike">
                <a:latin typeface="Arial"/>
              </a:rPr>
              <a:t>Интеграция автоплатежей: Возможность настройки регулярных   </a:t>
            </a:r>
            <a:endParaRPr b="0" lang="ru-RU" sz="1200" spc="-1" strike="noStrike">
              <a:latin typeface="Arial"/>
            </a:endParaRPr>
          </a:p>
          <a:p>
            <a:r>
              <a:rPr b="0" lang="ru-RU" sz="1200" spc="-1" strike="noStrike">
                <a:latin typeface="Arial"/>
              </a:rPr>
              <a:t>    </a:t>
            </a:r>
            <a:r>
              <a:rPr b="0" lang="ru-RU" sz="1200" spc="-1" strike="noStrike">
                <a:latin typeface="Arial"/>
              </a:rPr>
              <a:t>платежей (кредиты, кредитные карты, любые другие при желании )    прямо из нашего приложения через API банков.</a:t>
            </a:r>
            <a:endParaRPr b="0" lang="ru-RU" sz="1200" spc="-1" strike="noStrike">
              <a:latin typeface="Arial"/>
            </a:endParaRPr>
          </a:p>
          <a:p>
            <a:endParaRPr b="0" lang="ru-RU" sz="1200" spc="-1" strike="noStrike">
              <a:latin typeface="Arial"/>
            </a:endParaRPr>
          </a:p>
          <a:p>
            <a:r>
              <a:rPr b="0" lang="ru-RU" sz="1200" spc="-1" strike="noStrike">
                <a:latin typeface="Arial"/>
              </a:rPr>
              <a:t> </a:t>
            </a:r>
            <a:r>
              <a:rPr b="0" lang="ru-RU" sz="1200" spc="-1" strike="noStrike">
                <a:latin typeface="Arial"/>
              </a:rPr>
              <a:t>Персональные советы: Начало интеграции партнёрских программ для предложения выгодных финансовых продуктов.</a:t>
            </a:r>
            <a:endParaRPr b="0" lang="ru-RU" sz="1200" spc="-1" strike="noStrike">
              <a:latin typeface="Arial"/>
            </a:endParaRPr>
          </a:p>
        </p:txBody>
      </p:sp>
      <p:pic>
        <p:nvPicPr>
          <p:cNvPr id="136" name="Рисунок 1" descr="Изображение выглядит как текст, Шрифт, снимок экрана, Графика&#10;&#10;Содержимое, созданное искусственным интеллектом, может быть неверным."/>
          <p:cNvPicPr/>
          <p:nvPr/>
        </p:nvPicPr>
        <p:blipFill>
          <a:blip r:embed="rId2"/>
          <a:srcRect l="0" t="0" r="0" b="42847"/>
          <a:stretch/>
        </p:blipFill>
        <p:spPr>
          <a:xfrm>
            <a:off x="9243000" y="476280"/>
            <a:ext cx="2267640" cy="660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Рисунок 4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/>
          <p:cNvPicPr/>
          <p:nvPr/>
        </p:nvPicPr>
        <p:blipFill>
          <a:blip r:embed="rId1"/>
          <a:stretch/>
        </p:blipFill>
        <p:spPr>
          <a:xfrm>
            <a:off x="414360" y="335520"/>
            <a:ext cx="717192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5"/>
          <p:cNvSpPr/>
          <p:nvPr/>
        </p:nvSpPr>
        <p:spPr>
          <a:xfrm>
            <a:off x="923400" y="384840"/>
            <a:ext cx="5172120" cy="5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2800" spc="-1" strike="noStrike">
                <a:solidFill>
                  <a:srgbClr val="ffffff"/>
                </a:solidFill>
                <a:latin typeface="Arial"/>
              </a:rPr>
              <a:t>Спасибо за внимание!</a:t>
            </a:r>
            <a:endParaRPr b="0" lang="ru-RU" sz="2800" spc="-1" strike="noStrike">
              <a:latin typeface="Arial"/>
            </a:endParaRPr>
          </a:p>
        </p:txBody>
      </p:sp>
      <p:pic>
        <p:nvPicPr>
          <p:cNvPr id="139" name="Рисунок 1" descr="Изображение выглядит как текст, Шрифт, снимок экрана, Графика&#10;&#10;Содержимое, созданное искусственным интеллектом, может быть неверным."/>
          <p:cNvPicPr/>
          <p:nvPr/>
        </p:nvPicPr>
        <p:blipFill>
          <a:blip r:embed="rId2"/>
          <a:srcRect l="0" t="0" r="0" b="42847"/>
          <a:stretch/>
        </p:blipFill>
        <p:spPr>
          <a:xfrm>
            <a:off x="9243000" y="476280"/>
            <a:ext cx="2267640" cy="660600"/>
          </a:xfrm>
          <a:prstGeom prst="rect">
            <a:avLst/>
          </a:prstGeom>
          <a:ln w="0">
            <a:noFill/>
          </a:ln>
        </p:spPr>
      </p:pic>
      <p:sp>
        <p:nvSpPr>
          <p:cNvPr id="140" name="TextBox 2"/>
          <p:cNvSpPr/>
          <p:nvPr/>
        </p:nvSpPr>
        <p:spPr>
          <a:xfrm>
            <a:off x="414360" y="2340000"/>
            <a:ext cx="10025640" cy="264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2800" spc="-1" strike="noStrike">
                <a:solidFill>
                  <a:srgbClr val="ffffff"/>
                </a:solidFill>
                <a:latin typeface="Arial"/>
              </a:rPr>
              <a:t>В этом году ВТБ проводит </a:t>
            </a:r>
            <a:r>
              <a:rPr b="0" lang="en" sz="2800" spc="-1" strike="noStrike">
                <a:solidFill>
                  <a:srgbClr val="ffffff"/>
                </a:solidFill>
                <a:latin typeface="Arial"/>
              </a:rPr>
              <a:t>VTB API hackathon </a:t>
            </a:r>
            <a:r>
              <a:rPr b="0" lang="ru-RU" sz="2800" spc="-1" strike="noStrike">
                <a:solidFill>
                  <a:srgbClr val="ffffff"/>
                </a:solidFill>
                <a:latin typeface="Arial"/>
              </a:rPr>
              <a:t>в пятый раз 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2800" spc="-1" strike="noStrike">
                <a:solidFill>
                  <a:srgbClr val="ffffff"/>
                </a:solidFill>
                <a:latin typeface="Arial"/>
              </a:rPr>
              <a:t>К сожалению, наша команда первый раз узнала об этом, да и то примерно за неделю до окончания хакатона. 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2800" spc="-1" strike="noStrike">
                <a:solidFill>
                  <a:srgbClr val="ffffff"/>
                </a:solidFill>
                <a:latin typeface="Arial"/>
              </a:rPr>
              <a:t>Тем не менее мы очень рады участвовать! 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Application>LibreOffice/7.3.7.2$Linux_X86_64 LibreOffice_project/30$Build-2</Application>
  <AppVersion>15.0000</AppVersion>
  <Words>71</Words>
  <Paragraphs>16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2025-10-21T16:40:14Z</dcterms:created>
  <dc:creator>Яна Аксанова</dc:creator>
  <dc:description/>
  <dc:language>ru-RU</dc:language>
  <cp:lastModifiedBy/>
  <dcterms:modified xsi:type="dcterms:W3CDTF">2025-11-09T21:32:16Z</dcterms:modified>
  <cp:revision>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4</vt:i4>
  </property>
</Properties>
</file>