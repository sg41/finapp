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27.png" ContentType="image/png"/>
  <Override PartName="/ppt/media/image4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1.jpeg" ContentType="image/jpe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5B1889-B84B-4DD0-BB36-A49246DF6C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752AC2-CE21-44A6-95A1-143A2059AE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2D6D9C-79ED-48ED-AE93-1B27A8E651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4E3ADE-ECE6-4692-9D5E-B8836216C1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6D065B-5621-42CC-A17B-C323518FD3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294552-163D-4E05-AA73-08C563A394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7AF550-5331-4992-9F31-893C708D9B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07C55-3299-40C0-8B75-493DF9BF6F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B4EE62-0AC0-4CEB-8CBF-0C60090AC9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8123B9-9149-4CC4-8F13-4B8D8CE43D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43A69B-04ED-4EC7-992A-0B54873E10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FB4D34-F439-40E5-839E-F5C57B18C7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77A246-CD16-4CB7-A695-63ADD8102C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3D20B2-E7CA-4B26-8850-F4C753F17F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AAFD44-68CF-4DE9-A2DC-5E4CAA3EFE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91AA93-F155-4C09-AF9D-5E49020668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1B1ABD-6385-499D-BCDF-633304FA78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4BF347-58A9-4092-AC79-396FB8C319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D7BAF0-159A-472C-A2C9-F99D36157F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09DE87-B174-4EE9-A513-A6AC35BA49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721FF0-E14D-4498-BA53-603E9A4E41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F32B29-BC51-4859-AE5A-81DE50CA5A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F402ED-80EB-4C75-82CC-2A9A5185A4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FED485-5D28-4A2E-BF98-03CC3A25ED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Обр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азе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ц 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заг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оло</a:t>
            </a:r>
            <a:r>
              <a:rPr b="0" lang="ru-RU" sz="6000" spc="-1" strike="noStrike">
                <a:solidFill>
                  <a:srgbClr val="000000"/>
                </a:solidFill>
                <a:latin typeface="Aptos Display"/>
              </a:rPr>
              <a:t>вка</a:t>
            </a:r>
            <a:endParaRPr b="0" lang="ru-RU" sz="60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787878"/>
                </a:solidFill>
                <a:latin typeface="Aptos"/>
              </a:rPr>
              <a:t> 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8BA9B2-0AC5-4D15-AE6E-04DCF8EF252D}" type="slidenum">
              <a:rPr b="0" lang="ru-RU" sz="1200" spc="-1" strike="noStrike">
                <a:solidFill>
                  <a:srgbClr val="787878"/>
                </a:solidFill>
                <a:latin typeface="Aptos"/>
              </a:rPr>
              <a:t>6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ptos Display"/>
              </a:rPr>
              <a:t>Обра</a:t>
            </a:r>
            <a:r>
              <a:rPr b="0" lang="ru-RU" sz="4400" spc="-1" strike="noStrike">
                <a:solidFill>
                  <a:srgbClr val="000000"/>
                </a:solidFill>
                <a:latin typeface="Aptos Display"/>
              </a:rPr>
              <a:t>зец </a:t>
            </a:r>
            <a:r>
              <a:rPr b="0" lang="ru-RU" sz="4400" spc="-1" strike="noStrike">
                <a:solidFill>
                  <a:srgbClr val="000000"/>
                </a:solidFill>
                <a:latin typeface="Aptos Display"/>
              </a:rPr>
              <a:t>загол</a:t>
            </a:r>
            <a:r>
              <a:rPr b="0" lang="ru-RU" sz="4400" spc="-1" strike="noStrike">
                <a:solidFill>
                  <a:srgbClr val="000000"/>
                </a:solidFill>
                <a:latin typeface="Aptos Display"/>
              </a:rPr>
              <a:t>овка</a:t>
            </a:r>
            <a:endParaRPr b="0" lang="ru-RU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ptos"/>
              </a:rPr>
              <a:t>Образец текста</a:t>
            </a:r>
            <a:endParaRPr b="0" lang="ru-RU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ptos"/>
              </a:rPr>
              <a:t>Второй уровень</a:t>
            </a:r>
            <a:endParaRPr b="0" lang="ru-RU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Aptos"/>
              </a:rPr>
              <a:t>Третий уровень</a:t>
            </a:r>
            <a:endParaRPr b="0" lang="ru-RU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Aptos"/>
              </a:rPr>
              <a:t>Четвертый уровень</a:t>
            </a:r>
            <a:endParaRPr b="0" lang="ru-RU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Aptos"/>
              </a:rPr>
              <a:t>Пятый уровень</a:t>
            </a:r>
            <a:endParaRPr b="0" lang="ru-R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95C1F3-626F-4F99-90CD-274E9CB17F57}" type="slidenum">
              <a:rPr b="0" lang="ru-RU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ru-RU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jpe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Рисунок 1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333000" y="1545120"/>
            <a:ext cx="7772040" cy="919800"/>
          </a:xfrm>
          <a:prstGeom prst="rect">
            <a:avLst/>
          </a:prstGeom>
          <a:ln w="0">
            <a:noFill/>
          </a:ln>
        </p:spPr>
      </p:pic>
      <p:pic>
        <p:nvPicPr>
          <p:cNvPr id="83" name="Рисунок 16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/>
        </p:blipFill>
        <p:spPr>
          <a:xfrm>
            <a:off x="561600" y="382320"/>
            <a:ext cx="6543720" cy="919800"/>
          </a:xfrm>
          <a:prstGeom prst="rect">
            <a:avLst/>
          </a:prstGeom>
          <a:ln w="0">
            <a:noFill/>
          </a:ln>
        </p:spPr>
      </p:pic>
      <p:sp>
        <p:nvSpPr>
          <p:cNvPr id="84" name="TextBox 17"/>
          <p:cNvSpPr/>
          <p:nvPr/>
        </p:nvSpPr>
        <p:spPr>
          <a:xfrm>
            <a:off x="923400" y="382320"/>
            <a:ext cx="40572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Мультибанк: единый интерфейс финансового сервиса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900000" y="1542240"/>
            <a:ext cx="6543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5400" spc="-1" strike="noStrike">
                <a:solidFill>
                  <a:srgbClr val="ffffff"/>
                </a:solidFill>
                <a:latin typeface="Arial"/>
              </a:rPr>
              <a:t>КОМАНДА Динамо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86" name="Овал 21"/>
          <p:cNvSpPr/>
          <p:nvPr/>
        </p:nvSpPr>
        <p:spPr>
          <a:xfrm>
            <a:off x="389880" y="3412080"/>
            <a:ext cx="1908000" cy="1836000"/>
          </a:xfrm>
          <a:prstGeom prst="ellipse">
            <a:avLst/>
          </a:prstGeom>
          <a:solidFill>
            <a:srgbClr val="eeeeee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7" name="Рисунок 10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3"/>
          <a:stretch/>
        </p:blipFill>
        <p:spPr>
          <a:xfrm>
            <a:off x="333000" y="5136480"/>
            <a:ext cx="2575800" cy="439200"/>
          </a:xfrm>
          <a:prstGeom prst="rect">
            <a:avLst/>
          </a:prstGeom>
          <a:ln w="0">
            <a:noFill/>
          </a:ln>
        </p:spPr>
      </p:pic>
      <p:sp>
        <p:nvSpPr>
          <p:cNvPr id="88" name="TextBox 30"/>
          <p:cNvSpPr/>
          <p:nvPr/>
        </p:nvSpPr>
        <p:spPr>
          <a:xfrm>
            <a:off x="447120" y="5162760"/>
            <a:ext cx="2347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Сергей Горбатенко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9" name="TextBox 31"/>
          <p:cNvSpPr/>
          <p:nvPr/>
        </p:nvSpPr>
        <p:spPr>
          <a:xfrm>
            <a:off x="866520" y="5602320"/>
            <a:ext cx="1908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Командир, архитектор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0" name="Овал 32"/>
          <p:cNvSpPr/>
          <p:nvPr/>
        </p:nvSpPr>
        <p:spPr>
          <a:xfrm>
            <a:off x="2851920" y="3437640"/>
            <a:ext cx="1908000" cy="190908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1" name="Рисунок 33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4"/>
          <a:stretch/>
        </p:blipFill>
        <p:spPr>
          <a:xfrm>
            <a:off x="2794680" y="5162040"/>
            <a:ext cx="2022120" cy="439200"/>
          </a:xfrm>
          <a:prstGeom prst="rect">
            <a:avLst/>
          </a:prstGeom>
          <a:ln w="0">
            <a:noFill/>
          </a:ln>
        </p:spPr>
      </p:pic>
      <p:sp>
        <p:nvSpPr>
          <p:cNvPr id="92" name="TextBox 34"/>
          <p:cNvSpPr/>
          <p:nvPr/>
        </p:nvSpPr>
        <p:spPr>
          <a:xfrm>
            <a:off x="2908800" y="5188320"/>
            <a:ext cx="190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Gemini 2.5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3" name="TextBox 35"/>
          <p:cNvSpPr/>
          <p:nvPr/>
        </p:nvSpPr>
        <p:spPr>
          <a:xfrm>
            <a:off x="3328200" y="5627880"/>
            <a:ext cx="1908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Бэкенд разработчик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4" name="Овал 36"/>
          <p:cNvSpPr/>
          <p:nvPr/>
        </p:nvSpPr>
        <p:spPr>
          <a:xfrm>
            <a:off x="5236560" y="3446640"/>
            <a:ext cx="1908000" cy="190908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5" name="Рисунок 37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5"/>
          <a:stretch/>
        </p:blipFill>
        <p:spPr>
          <a:xfrm>
            <a:off x="5179680" y="5171040"/>
            <a:ext cx="2022120" cy="439200"/>
          </a:xfrm>
          <a:prstGeom prst="rect">
            <a:avLst/>
          </a:prstGeom>
          <a:ln w="0">
            <a:noFill/>
          </a:ln>
        </p:spPr>
      </p:pic>
      <p:sp>
        <p:nvSpPr>
          <p:cNvPr id="96" name="TextBox 38"/>
          <p:cNvSpPr/>
          <p:nvPr/>
        </p:nvSpPr>
        <p:spPr>
          <a:xfrm>
            <a:off x="5293800" y="5197320"/>
            <a:ext cx="190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Gemini 2.5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7" name="TextBox 39"/>
          <p:cNvSpPr/>
          <p:nvPr/>
        </p:nvSpPr>
        <p:spPr>
          <a:xfrm>
            <a:off x="5712840" y="5636880"/>
            <a:ext cx="1908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Фронтенд разработчик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8" name="Овал 40"/>
          <p:cNvSpPr/>
          <p:nvPr/>
        </p:nvSpPr>
        <p:spPr>
          <a:xfrm>
            <a:off x="7621200" y="3446640"/>
            <a:ext cx="1908000" cy="1909080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9" name="Рисунок 41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6"/>
          <a:stretch/>
        </p:blipFill>
        <p:spPr>
          <a:xfrm>
            <a:off x="7564320" y="5171040"/>
            <a:ext cx="2022120" cy="439200"/>
          </a:xfrm>
          <a:prstGeom prst="rect">
            <a:avLst/>
          </a:prstGeom>
          <a:ln w="0">
            <a:noFill/>
          </a:ln>
        </p:spPr>
      </p:pic>
      <p:sp>
        <p:nvSpPr>
          <p:cNvPr id="100" name="TextBox 42"/>
          <p:cNvSpPr/>
          <p:nvPr/>
        </p:nvSpPr>
        <p:spPr>
          <a:xfrm>
            <a:off x="7678440" y="5197320"/>
            <a:ext cx="1908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Qwen-3Max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1" name="TextBox 43"/>
          <p:cNvSpPr/>
          <p:nvPr/>
        </p:nvSpPr>
        <p:spPr>
          <a:xfrm>
            <a:off x="8097840" y="5636880"/>
            <a:ext cx="1908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Помошник бэкенд разработчика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2" name="Овал 44"/>
          <p:cNvSpPr/>
          <p:nvPr/>
        </p:nvSpPr>
        <p:spPr>
          <a:xfrm>
            <a:off x="9948960" y="3437640"/>
            <a:ext cx="1908000" cy="1909080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3" name="Рисунок 4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7"/>
          <a:stretch/>
        </p:blipFill>
        <p:spPr>
          <a:xfrm>
            <a:off x="9891720" y="5162040"/>
            <a:ext cx="2022120" cy="439200"/>
          </a:xfrm>
          <a:prstGeom prst="rect">
            <a:avLst/>
          </a:prstGeom>
          <a:ln w="0">
            <a:noFill/>
          </a:ln>
        </p:spPr>
      </p:pic>
      <p:sp>
        <p:nvSpPr>
          <p:cNvPr id="104" name="TextBox 46"/>
          <p:cNvSpPr/>
          <p:nvPr/>
        </p:nvSpPr>
        <p:spPr>
          <a:xfrm>
            <a:off x="10006200" y="5188320"/>
            <a:ext cx="190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800" spc="-1" strike="noStrike">
                <a:solidFill>
                  <a:srgbClr val="ffffff"/>
                </a:solidFill>
                <a:latin typeface="Arial"/>
              </a:rPr>
              <a:t>Qwen-3Max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05" name="TextBox 47"/>
          <p:cNvSpPr/>
          <p:nvPr/>
        </p:nvSpPr>
        <p:spPr>
          <a:xfrm>
            <a:off x="10425240" y="5627880"/>
            <a:ext cx="190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Дизайнер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06" name="Рисунок 3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8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9"/>
          <a:stretch/>
        </p:blipFill>
        <p:spPr>
          <a:xfrm>
            <a:off x="696960" y="3759120"/>
            <a:ext cx="1283040" cy="12808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10"/>
          <a:stretch/>
        </p:blipFill>
        <p:spPr>
          <a:xfrm>
            <a:off x="8100000" y="4172040"/>
            <a:ext cx="983880" cy="32796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11"/>
          <a:stretch/>
        </p:blipFill>
        <p:spPr>
          <a:xfrm>
            <a:off x="10356120" y="4172040"/>
            <a:ext cx="983880" cy="32796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12"/>
          <a:stretch/>
        </p:blipFill>
        <p:spPr>
          <a:xfrm>
            <a:off x="3132000" y="4210920"/>
            <a:ext cx="1368000" cy="46908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13"/>
          <a:stretch/>
        </p:blipFill>
        <p:spPr>
          <a:xfrm>
            <a:off x="5472000" y="4210920"/>
            <a:ext cx="1368000" cy="46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13" name="TextBox 5"/>
          <p:cNvSpPr/>
          <p:nvPr/>
        </p:nvSpPr>
        <p:spPr>
          <a:xfrm>
            <a:off x="923400" y="384840"/>
            <a:ext cx="609660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Реализованный функционал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14" name="Параллелограмм 6"/>
          <p:cNvSpPr/>
          <p:nvPr/>
        </p:nvSpPr>
        <p:spPr>
          <a:xfrm>
            <a:off x="41436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b="0" lang="ru-RU" sz="1800" spc="-1" strike="noStrike">
                <a:latin typeface="Arial"/>
              </a:rPr>
              <a:t>Безопасное хранение</a:t>
            </a:r>
            <a:r>
              <a:rPr b="0" lang="ru-RU" sz="1800" spc="-1" strike="noStrike">
                <a:latin typeface="Arial"/>
              </a:rPr>
              <a:t>	</a:t>
            </a:r>
            <a:endParaRPr b="0" lang="ru-RU" sz="18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b="0" lang="ru-RU" sz="1800" spc="-1" strike="noStrike">
                <a:latin typeface="Arial"/>
              </a:rPr>
              <a:t>Агрегация данных</a:t>
            </a:r>
            <a:r>
              <a:rPr b="0" lang="ru-RU" sz="1800" spc="-1" strike="noStrike">
                <a:latin typeface="Arial"/>
              </a:rPr>
              <a:t>	</a:t>
            </a:r>
            <a:endParaRPr b="0" lang="ru-RU" sz="18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b="0" lang="ru-RU" sz="1800" spc="-1" strike="noStrike">
                <a:latin typeface="Arial"/>
              </a:rPr>
              <a:t>Бизнес-логика</a:t>
            </a:r>
            <a:r>
              <a:rPr b="0" lang="ru-RU" sz="1800" spc="-1" strike="noStrike">
                <a:latin typeface="Arial"/>
              </a:rPr>
              <a:t>	</a:t>
            </a:r>
            <a:endParaRPr b="0" lang="ru-RU" sz="18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None/>
            </a:pPr>
            <a:r>
              <a:rPr b="0" lang="ru-RU" sz="1800" spc="-1" strike="noStrike">
                <a:latin typeface="Arial"/>
              </a:rPr>
              <a:t>Монетизация</a:t>
            </a:r>
            <a:r>
              <a:rPr b="0" lang="ru-RU" sz="1800" spc="-1" strike="noStrike">
                <a:latin typeface="Arial"/>
              </a:rPr>
              <a:t>	</a:t>
            </a:r>
            <a:endParaRPr b="0" lang="ru-RU" sz="1800" spc="-1" strike="noStrike">
              <a:latin typeface="Arial"/>
              <a:ea typeface="Noto Sans CJK SC"/>
            </a:endParaRPr>
          </a:p>
        </p:txBody>
      </p:sp>
      <p:sp>
        <p:nvSpPr>
          <p:cNvPr id="115" name="Параллелограмм 7"/>
          <p:cNvSpPr/>
          <p:nvPr/>
        </p:nvSpPr>
        <p:spPr>
          <a:xfrm>
            <a:off x="609588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</a:rPr>
              <a:t>✅ </a:t>
            </a:r>
            <a:r>
              <a:rPr b="0" lang="ru-RU" sz="1200" spc="-1" strike="noStrike">
                <a:latin typeface="Arial"/>
              </a:rPr>
              <a:t>Реализовано. Пароли хэшируются (bcrypt), для доступа к API используются JWT-токены. Чувствительные данные не хранятся в открытом виде.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</a:rPr>
              <a:t>✅ </a:t>
            </a:r>
            <a:r>
              <a:rPr b="0" lang="ru-RU" sz="1200" spc="-1" strike="noStrike">
                <a:latin typeface="Arial"/>
              </a:rPr>
              <a:t>Реализовано. Получаем балансы, детали счетов и историю транзакций. Данные обновляются по запросу пользователя (pull-to-refresh).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</a:rPr>
              <a:t>✅ </a:t>
            </a:r>
            <a:r>
              <a:rPr b="0" lang="ru-RU" sz="1200" spc="-1" strike="noStrike">
                <a:latin typeface="Arial"/>
              </a:rPr>
              <a:t>Реализовано. Пользовательская ценность — аналитика. Реализован расчёт оборотов (приход/расход) за произвольный период и фильтрация транзакций.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</a:rPr>
              <a:t>✅ </a:t>
            </a:r>
            <a:r>
              <a:rPr b="0" lang="ru-RU" sz="1200" spc="-1" strike="noStrike">
                <a:latin typeface="Arial"/>
              </a:rPr>
              <a:t>Реализован элемент. Добавлена функция экспорта в Excel, которая является частью нашей Premium-модели.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pic>
        <p:nvPicPr>
          <p:cNvPr id="116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sp>
        <p:nvSpPr>
          <p:cNvPr id="117" name="Рисунок 2"/>
          <p:cNvSpPr txBox="1"/>
          <p:nvPr/>
        </p:nvSpPr>
        <p:spPr>
          <a:xfrm>
            <a:off x="720000" y="1577520"/>
            <a:ext cx="5040000" cy="94248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latin typeface="Arial"/>
              </a:rPr>
              <a:t>Требование</a:t>
            </a:r>
            <a:r>
              <a:rPr b="0" lang="ru-RU" sz="2800" spc="-1" strike="noStrike">
                <a:latin typeface="Arial"/>
              </a:rPr>
              <a:t>	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18" name="Рисунок 5"/>
          <p:cNvSpPr txBox="1"/>
          <p:nvPr/>
        </p:nvSpPr>
        <p:spPr>
          <a:xfrm>
            <a:off x="5940000" y="1577520"/>
            <a:ext cx="5040000" cy="94248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latin typeface="Arial"/>
              </a:rPr>
              <a:t>Реализация в FinApp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Рисунок 6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1"/>
          <p:cNvSpPr/>
          <p:nvPr/>
        </p:nvSpPr>
        <p:spPr>
          <a:xfrm>
            <a:off x="923400" y="384840"/>
            <a:ext cx="60966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Соответствие </a:t>
            </a: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требованиям: </a:t>
            </a: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Технологии и </a:t>
            </a: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UX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1" name="Параллелограмм 1"/>
          <p:cNvSpPr/>
          <p:nvPr/>
        </p:nvSpPr>
        <p:spPr>
          <a:xfrm>
            <a:off x="41436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Интуитивный UI/UХ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Надёжность</a:t>
            </a:r>
            <a:r>
              <a:rPr b="0" lang="ru-RU" sz="1200" spc="-1" strike="noStrike">
                <a:latin typeface="Arial"/>
                <a:ea typeface="Noto Sans CJK SC"/>
              </a:rPr>
              <a:t>	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Мобильный интерфейс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Дашборды и визуализация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Экспорт данных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Уведомления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sp>
        <p:nvSpPr>
          <p:cNvPr id="122" name="Параллелограмм 2"/>
          <p:cNvSpPr/>
          <p:nvPr/>
        </p:nvSpPr>
        <p:spPr>
          <a:xfrm>
            <a:off x="609588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Чистый, минималистичный интерфейс, с которым легко разобраться без инструкций.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Наш бэкенд обрабатывает ошибки API банков, включая некорректную пагинацию, и использует дедупликацию для корректного суммирования.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Приложение создано на Flutter, что обеспечивает нативную работу на iOS, Android, а также в вебе.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Главный экран служит дашбордом с общим балансом. Карточка "Обороты за период" — пример наглядной визуализации данных.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✅ </a:t>
            </a:r>
            <a:r>
              <a:rPr b="0" lang="ru-RU" sz="1200" spc="-1" strike="noStrike">
                <a:latin typeface="Arial"/>
                <a:ea typeface="Noto Sans CJK SC"/>
              </a:rPr>
              <a:t>Реализовано. Пользователи могут экспортировать список транзакций в формат Excel (.xlsx).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algn="ctr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⏳ </a:t>
            </a:r>
            <a:r>
              <a:rPr b="0" lang="ru-RU" sz="1200" spc="-1" strike="noStrike">
                <a:latin typeface="Arial"/>
                <a:ea typeface="Noto Sans CJK SC"/>
              </a:rPr>
              <a:t>В плане. Архитектура готова к внедрению push-уведомлений.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pic>
        <p:nvPicPr>
          <p:cNvPr id="123" name="Рисунок 7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sp>
        <p:nvSpPr>
          <p:cNvPr id="124" name="Рисунок 8"/>
          <p:cNvSpPr txBox="1"/>
          <p:nvPr/>
        </p:nvSpPr>
        <p:spPr>
          <a:xfrm>
            <a:off x="720000" y="1577520"/>
            <a:ext cx="5040000" cy="94248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latin typeface="Arial"/>
              </a:rPr>
              <a:t>Требование</a:t>
            </a:r>
            <a:r>
              <a:rPr b="0" lang="ru-RU" sz="2800" spc="-1" strike="noStrike">
                <a:latin typeface="Arial"/>
              </a:rPr>
              <a:t>	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5" name="Рисунок 9"/>
          <p:cNvSpPr txBox="1"/>
          <p:nvPr/>
        </p:nvSpPr>
        <p:spPr>
          <a:xfrm>
            <a:off x="5940000" y="1577520"/>
            <a:ext cx="5040000" cy="94248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latin typeface="Arial"/>
              </a:rPr>
              <a:t>Реализац</a:t>
            </a:r>
            <a:r>
              <a:rPr b="0" lang="ru-RU" sz="2800" spc="-1" strike="noStrike">
                <a:latin typeface="Arial"/>
              </a:rPr>
              <a:t>ия в </a:t>
            </a:r>
            <a:r>
              <a:rPr b="0" lang="ru-RU" sz="2800" spc="-1" strike="noStrike">
                <a:latin typeface="Arial"/>
              </a:rPr>
              <a:t>FinApp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Рисунок 11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27" name="TextBox 3"/>
          <p:cNvSpPr/>
          <p:nvPr/>
        </p:nvSpPr>
        <p:spPr>
          <a:xfrm>
            <a:off x="923400" y="384840"/>
            <a:ext cx="609660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Как FinApp будет зарабатывать?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28" name="Параллелограмм 3"/>
          <p:cNvSpPr/>
          <p:nvPr/>
        </p:nvSpPr>
        <p:spPr>
          <a:xfrm>
            <a:off x="41436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latin typeface="Arial"/>
                <a:ea typeface="Noto Sans CJK SC"/>
              </a:rPr>
              <a:t>FREE (Бесплатно):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Подключение всех банков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Просмотр балансов и транзакций за последние 10 дней.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Основная цель: дать пользователю оценить удобство единого окна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ru-RU" sz="12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latin typeface="Arial"/>
                <a:ea typeface="Noto Sans CJK SC"/>
              </a:rPr>
              <a:t>PREMIUM (Подписка):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Неограниченный период просмотра транзакций.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Экспорт отчётов в Excel (уже реализовано!)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latin typeface="Arial"/>
                <a:ea typeface="Noto Sans CJK SC"/>
              </a:rPr>
              <a:t>Продвинутая аналитика, отчёты, отслеживание предстоящих платежей по картам/кредитам, автоплатеж, напоминание, (в разработке).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sp>
        <p:nvSpPr>
          <p:cNvPr id="129" name="Параллелограмм 4"/>
          <p:cNvSpPr/>
          <p:nvPr/>
        </p:nvSpPr>
        <p:spPr>
          <a:xfrm>
            <a:off x="6095880" y="2700000"/>
            <a:ext cx="5414760" cy="3772800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Ненавязчивые рекомендации, выгодные пользователю.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Пример: "Мы заметили, что у вас есть кредит под 15%. Наш банк-партнёр готов предложить рефинансирование под 11%. Узнать больше?"</a:t>
            </a:r>
            <a:endParaRPr b="0" lang="ru-RU" sz="1200" spc="-1" strike="noStrike">
              <a:latin typeface="Arial"/>
              <a:ea typeface="Noto Sans CJK SC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latin typeface="Arial"/>
                <a:ea typeface="Noto Sans CJK SC"/>
              </a:rPr>
              <a:t>Win-Win: Пользователь экономит деньги, мы получаем комиссию.</a:t>
            </a:r>
            <a:endParaRPr b="0" lang="ru-RU" sz="1200" spc="-1" strike="noStrike">
              <a:latin typeface="Arial"/>
              <a:ea typeface="Noto Sans CJK SC"/>
            </a:endParaRPr>
          </a:p>
        </p:txBody>
      </p:sp>
      <p:pic>
        <p:nvPicPr>
          <p:cNvPr id="130" name="Рисунок 12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sp>
        <p:nvSpPr>
          <p:cNvPr id="131" name="Рисунок 13"/>
          <p:cNvSpPr txBox="1"/>
          <p:nvPr/>
        </p:nvSpPr>
        <p:spPr>
          <a:xfrm>
            <a:off x="720000" y="1577520"/>
            <a:ext cx="5040000" cy="94248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latin typeface="Arial"/>
              </a:rPr>
              <a:t>Модель 1: Freemium </a:t>
            </a:r>
            <a:endParaRPr b="0" lang="ru-RU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latin typeface="Arial"/>
              </a:rPr>
              <a:t>(функционал готов)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32" name="Рисунок 14"/>
          <p:cNvSpPr txBox="1"/>
          <p:nvPr/>
        </p:nvSpPr>
        <p:spPr>
          <a:xfrm>
            <a:off x="5940000" y="1577520"/>
            <a:ext cx="5040000" cy="94248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90000" rIns="90000" tIns="45000" bIns="45000" anchor="t" anchorCtr="1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latin typeface="Arial"/>
              </a:rPr>
              <a:t>Модель 2: Партнёрские программы </a:t>
            </a:r>
            <a:endParaRPr b="0" lang="ru-RU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latin typeface="Arial"/>
              </a:rPr>
              <a:t>(будущее развитие)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34" name="TextBox 5"/>
          <p:cNvSpPr/>
          <p:nvPr/>
        </p:nvSpPr>
        <p:spPr>
          <a:xfrm>
            <a:off x="923400" y="384840"/>
            <a:ext cx="609660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Наше видение будущего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135" name="Параллелограмм 7"/>
          <p:cNvSpPr/>
          <p:nvPr/>
        </p:nvSpPr>
        <p:spPr>
          <a:xfrm>
            <a:off x="4680000" y="1644120"/>
            <a:ext cx="7097040" cy="4828680"/>
          </a:xfrm>
          <a:prstGeom prst="parallelogram">
            <a:avLst>
              <a:gd name="adj" fmla="val 18935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1" lang="ru-RU" sz="1200" spc="-1" strike="noStrike">
                <a:latin typeface="Arial"/>
              </a:rPr>
              <a:t>                      </a:t>
            </a:r>
            <a:r>
              <a:rPr b="1" lang="ru-RU" sz="1200" spc="-1" strike="noStrike">
                <a:latin typeface="Arial"/>
              </a:rPr>
              <a:t>Этап 1: Глубокая аналитика (Ближайшие 1 месяц)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         </a:t>
            </a:r>
            <a:r>
              <a:rPr b="0" lang="ru-RU" sz="1200" spc="-1" strike="noStrike">
                <a:latin typeface="Arial"/>
              </a:rPr>
              <a:t>Автоматическая категоризация расходов для </a:t>
            </a:r>
            <a:r>
              <a:rPr b="0" lang="ru-RU" sz="1200" spc="-1" strike="noStrike">
                <a:latin typeface="Arial"/>
              </a:rPr>
              <a:t>	</a:t>
            </a:r>
            <a:r>
              <a:rPr b="0" lang="ru-RU" sz="1200" spc="-1" strike="noStrike">
                <a:latin typeface="Arial"/>
              </a:rPr>
              <a:t>                              наглядного понимания, куда уходят деньги.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       </a:t>
            </a:r>
            <a:r>
              <a:rPr b="0" lang="ru-RU" sz="1200" spc="-1" strike="noStrike">
                <a:latin typeface="Arial"/>
              </a:rPr>
              <a:t>Напоминания: На основе дат выписки и платежа, которые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      </a:t>
            </a:r>
            <a:r>
              <a:rPr b="0" lang="ru-RU" sz="1200" spc="-1" strike="noStrike">
                <a:latin typeface="Arial"/>
              </a:rPr>
              <a:t>пользователь уже может указать, будем присылать push-                     уведомления о предстоящих платежах.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</a:t>
            </a:r>
            <a:endParaRPr b="0" lang="ru-RU" sz="1200" spc="-1" strike="noStrike">
              <a:latin typeface="Arial"/>
            </a:endParaRPr>
          </a:p>
          <a:p>
            <a:r>
              <a:rPr b="1" lang="ru-RU" sz="1200" spc="-1" strike="noStrike">
                <a:latin typeface="Arial"/>
              </a:rPr>
              <a:t>               </a:t>
            </a:r>
            <a:r>
              <a:rPr b="1" lang="ru-RU" sz="1200" spc="-1" strike="noStrike">
                <a:latin typeface="Arial"/>
              </a:rPr>
              <a:t>Этап 2: Управление бюджетом (2 месяца)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 </a:t>
            </a:r>
            <a:r>
              <a:rPr b="0" lang="ru-RU" sz="1200" spc="-1" strike="noStrike">
                <a:latin typeface="Arial"/>
              </a:rPr>
              <a:t>Бюджетирование: Возможность устанавливать месячные 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 </a:t>
            </a:r>
            <a:r>
              <a:rPr b="0" lang="ru-RU" sz="1200" spc="-1" strike="noStrike">
                <a:latin typeface="Arial"/>
              </a:rPr>
              <a:t>лимиты на категории трат и получать уведомления при их    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  </a:t>
            </a:r>
            <a:r>
              <a:rPr b="0" lang="ru-RU" sz="1200" spc="-1" strike="noStrike">
                <a:latin typeface="Arial"/>
              </a:rPr>
              <a:t>превышении.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 </a:t>
            </a:r>
            <a:r>
              <a:rPr b="0" lang="ru-RU" sz="1200" spc="-1" strike="noStrike">
                <a:latin typeface="Arial"/>
              </a:rPr>
              <a:t>Финансовые цели: Инструмент для отслеживания прогресса       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   </a:t>
            </a:r>
            <a:r>
              <a:rPr b="0" lang="ru-RU" sz="1200" spc="-1" strike="noStrike">
                <a:latin typeface="Arial"/>
              </a:rPr>
              <a:t>накоплений на крупные покупки.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1" lang="ru-RU" sz="1200" spc="-1" strike="noStrike">
                <a:latin typeface="Arial"/>
              </a:rPr>
              <a:t>       </a:t>
            </a:r>
            <a:r>
              <a:rPr b="1" lang="ru-RU" sz="1200" spc="-1" strike="noStrike">
                <a:latin typeface="Arial"/>
              </a:rPr>
              <a:t>Этап 3: Финансовый помощник (3 месяца)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 </a:t>
            </a:r>
            <a:r>
              <a:rPr b="0" lang="ru-RU" sz="1200" spc="-1" strike="noStrike">
                <a:latin typeface="Arial"/>
              </a:rPr>
              <a:t>Интеграция автоплатежей: Возможность настройки регулярных   </a:t>
            </a:r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   </a:t>
            </a:r>
            <a:r>
              <a:rPr b="0" lang="ru-RU" sz="1200" spc="-1" strike="noStrike">
                <a:latin typeface="Arial"/>
              </a:rPr>
              <a:t>платежей (кредиты, кредитные карты, любые другие при желании )    прямо из нашего приложения через API банков.</a:t>
            </a:r>
            <a:endParaRPr b="0" lang="ru-RU" sz="1200" spc="-1" strike="noStrike">
              <a:latin typeface="Arial"/>
            </a:endParaRPr>
          </a:p>
          <a:p>
            <a:endParaRPr b="0" lang="ru-RU" sz="1200" spc="-1" strike="noStrike">
              <a:latin typeface="Arial"/>
            </a:endParaRPr>
          </a:p>
          <a:p>
            <a:r>
              <a:rPr b="0" lang="ru-RU" sz="1200" spc="-1" strike="noStrike">
                <a:latin typeface="Arial"/>
              </a:rPr>
              <a:t> </a:t>
            </a:r>
            <a:r>
              <a:rPr b="0" lang="ru-RU" sz="1200" spc="-1" strike="noStrike">
                <a:latin typeface="Arial"/>
              </a:rPr>
              <a:t>Персональные советы: Начало интеграции партнёрских программ для предложения выгодных финансовых продуктов.</a:t>
            </a:r>
            <a:endParaRPr b="0" lang="ru-RU" sz="1200" spc="-1" strike="noStrike">
              <a:latin typeface="Arial"/>
            </a:endParaRPr>
          </a:p>
        </p:txBody>
      </p:sp>
      <p:pic>
        <p:nvPicPr>
          <p:cNvPr id="136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414360" y="335520"/>
            <a:ext cx="7171920" cy="9424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5"/>
          <p:cNvSpPr/>
          <p:nvPr/>
        </p:nvSpPr>
        <p:spPr>
          <a:xfrm>
            <a:off x="923400" y="384840"/>
            <a:ext cx="517212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2800" spc="-1" strike="noStrike">
                <a:solidFill>
                  <a:srgbClr val="ffffff"/>
                </a:solidFill>
                <a:latin typeface="Arial"/>
              </a:rPr>
              <a:t>Спасибо за внимание!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139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rcRect l="0" t="0" r="0" b="42847"/>
          <a:stretch/>
        </p:blipFill>
        <p:spPr>
          <a:xfrm>
            <a:off x="9243000" y="476280"/>
            <a:ext cx="2267640" cy="660600"/>
          </a:xfrm>
          <a:prstGeom prst="rect">
            <a:avLst/>
          </a:prstGeom>
          <a:ln w="0">
            <a:noFill/>
          </a:ln>
        </p:spPr>
      </p:pic>
      <p:sp>
        <p:nvSpPr>
          <p:cNvPr id="140" name="TextBox 2"/>
          <p:cNvSpPr/>
          <p:nvPr/>
        </p:nvSpPr>
        <p:spPr>
          <a:xfrm>
            <a:off x="414360" y="2340000"/>
            <a:ext cx="1002564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В этом году ВТБ проводит </a:t>
            </a:r>
            <a:r>
              <a:rPr b="0" lang="en" sz="2800" spc="-1" strike="noStrike">
                <a:solidFill>
                  <a:srgbClr val="ffffff"/>
                </a:solidFill>
                <a:latin typeface="Arial"/>
              </a:rPr>
              <a:t>VTB API hackathon </a:t>
            </a: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в пятый раз 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К сожалению, наша команда первый раз узнала об этом, да и то примерно за неделю до окончания хакатона. 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ffffff"/>
                </a:solidFill>
                <a:latin typeface="Arial"/>
              </a:rPr>
              <a:t>Тем не менее мы очень рады участвовать! 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LibreOffice/7.3.7.2$Linux_X86_64 LibreOffice_project/30$Build-2</Application>
  <AppVersion>15.0000</AppVersion>
  <Words>71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2025-10-21T16:40:14Z</dcterms:created>
  <dc:creator>Яна Аксанова</dc:creator>
  <dc:description/>
  <dc:language>ru-RU</dc:language>
  <cp:lastModifiedBy/>
  <dcterms:modified xsi:type="dcterms:W3CDTF">2025-11-09T21:36:19Z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4</vt:i4>
  </property>
</Properties>
</file>